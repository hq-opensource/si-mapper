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cf073161a9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1cf073161a9_0_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cf073161a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cf073161a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d3e0af004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d3e0af004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cf073161a9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cf073161a9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cf073161a9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1cf073161a9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cf073161a9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cf073161a9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cf073161a9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cf073161a9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cf073161a9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cf073161a9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1cf073161a9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1cf073161a9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d3e0af004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d3e0af004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1d3e0af00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1d3e0af00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1d3e0af0040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1d3e0af0040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SzPts val="3600"/>
              <a:buNone/>
              <a:defRPr sz="3600"/>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SzPts val="2400"/>
              <a:buNone/>
              <a:defRPr sz="24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rtl="0" algn="l">
              <a:lnSpc>
                <a:spcPct val="115000"/>
              </a:lnSpc>
              <a:spcBef>
                <a:spcPts val="0"/>
              </a:spcBef>
              <a:spcAft>
                <a:spcPts val="0"/>
              </a:spcAft>
              <a:buSzPts val="1200"/>
              <a:buChar char="●"/>
              <a:defRPr sz="12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rtl="0" algn="l">
              <a:lnSpc>
                <a:spcPct val="100000"/>
              </a:lnSpc>
              <a:spcBef>
                <a:spcPts val="0"/>
              </a:spcBef>
              <a:spcAft>
                <a:spcPts val="0"/>
              </a:spcAft>
              <a:buSzPts val="4800"/>
              <a:buNone/>
              <a:defRPr sz="4800"/>
            </a:lvl1pPr>
            <a:lvl2pPr lvl="1" rtl="0" algn="l">
              <a:lnSpc>
                <a:spcPct val="100000"/>
              </a:lnSpc>
              <a:spcBef>
                <a:spcPts val="0"/>
              </a:spcBef>
              <a:spcAft>
                <a:spcPts val="0"/>
              </a:spcAft>
              <a:buSzPts val="4800"/>
              <a:buNone/>
              <a:defRPr sz="4800"/>
            </a:lvl2pPr>
            <a:lvl3pPr lvl="2" rtl="0" algn="l">
              <a:lnSpc>
                <a:spcPct val="100000"/>
              </a:lnSpc>
              <a:spcBef>
                <a:spcPts val="0"/>
              </a:spcBef>
              <a:spcAft>
                <a:spcPts val="0"/>
              </a:spcAft>
              <a:buSzPts val="4800"/>
              <a:buNone/>
              <a:defRPr sz="4800"/>
            </a:lvl3pPr>
            <a:lvl4pPr lvl="3" rtl="0" algn="l">
              <a:lnSpc>
                <a:spcPct val="100000"/>
              </a:lnSpc>
              <a:spcBef>
                <a:spcPts val="0"/>
              </a:spcBef>
              <a:spcAft>
                <a:spcPts val="0"/>
              </a:spcAft>
              <a:buSzPts val="4800"/>
              <a:buNone/>
              <a:defRPr sz="4800"/>
            </a:lvl4pPr>
            <a:lvl5pPr lvl="4" rtl="0" algn="l">
              <a:lnSpc>
                <a:spcPct val="100000"/>
              </a:lnSpc>
              <a:spcBef>
                <a:spcPts val="0"/>
              </a:spcBef>
              <a:spcAft>
                <a:spcPts val="0"/>
              </a:spcAft>
              <a:buSzPts val="4800"/>
              <a:buNone/>
              <a:defRPr sz="4800"/>
            </a:lvl5pPr>
            <a:lvl6pPr lvl="5" rtl="0" algn="l">
              <a:lnSpc>
                <a:spcPct val="100000"/>
              </a:lnSpc>
              <a:spcBef>
                <a:spcPts val="0"/>
              </a:spcBef>
              <a:spcAft>
                <a:spcPts val="0"/>
              </a:spcAft>
              <a:buSzPts val="4800"/>
              <a:buNone/>
              <a:defRPr sz="4800"/>
            </a:lvl6pPr>
            <a:lvl7pPr lvl="6" rtl="0" algn="l">
              <a:lnSpc>
                <a:spcPct val="100000"/>
              </a:lnSpc>
              <a:spcBef>
                <a:spcPts val="0"/>
              </a:spcBef>
              <a:spcAft>
                <a:spcPts val="0"/>
              </a:spcAft>
              <a:buSzPts val="4800"/>
              <a:buNone/>
              <a:defRPr sz="4800"/>
            </a:lvl7pPr>
            <a:lvl8pPr lvl="7" rtl="0" algn="l">
              <a:lnSpc>
                <a:spcPct val="100000"/>
              </a:lnSpc>
              <a:spcBef>
                <a:spcPts val="0"/>
              </a:spcBef>
              <a:spcAft>
                <a:spcPts val="0"/>
              </a:spcAft>
              <a:buSzPts val="4800"/>
              <a:buNone/>
              <a:defRPr sz="4800"/>
            </a:lvl8pPr>
            <a:lvl9pPr lvl="8" rtl="0" algn="l">
              <a:lnSpc>
                <a:spcPct val="100000"/>
              </a:lnSpc>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4200"/>
              <a:buNone/>
              <a:defRPr sz="4200"/>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rtl="0" algn="l">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12000"/>
              <a:buNone/>
              <a:defRPr sz="12000"/>
            </a:lvl1pPr>
            <a:lvl2pPr lvl="1" rtl="0" algn="ctr">
              <a:lnSpc>
                <a:spcPct val="100000"/>
              </a:lnSpc>
              <a:spcBef>
                <a:spcPts val="0"/>
              </a:spcBef>
              <a:spcAft>
                <a:spcPts val="0"/>
              </a:spcAft>
              <a:buSzPts val="12000"/>
              <a:buNone/>
              <a:defRPr sz="12000"/>
            </a:lvl2pPr>
            <a:lvl3pPr lvl="2" rtl="0" algn="ctr">
              <a:lnSpc>
                <a:spcPct val="100000"/>
              </a:lnSpc>
              <a:spcBef>
                <a:spcPts val="0"/>
              </a:spcBef>
              <a:spcAft>
                <a:spcPts val="0"/>
              </a:spcAft>
              <a:buSzPts val="12000"/>
              <a:buNone/>
              <a:defRPr sz="12000"/>
            </a:lvl3pPr>
            <a:lvl4pPr lvl="3" rtl="0" algn="ctr">
              <a:lnSpc>
                <a:spcPct val="100000"/>
              </a:lnSpc>
              <a:spcBef>
                <a:spcPts val="0"/>
              </a:spcBef>
              <a:spcAft>
                <a:spcPts val="0"/>
              </a:spcAft>
              <a:buSzPts val="12000"/>
              <a:buNone/>
              <a:defRPr sz="12000"/>
            </a:lvl4pPr>
            <a:lvl5pPr lvl="4" rtl="0" algn="ctr">
              <a:lnSpc>
                <a:spcPct val="100000"/>
              </a:lnSpc>
              <a:spcBef>
                <a:spcPts val="0"/>
              </a:spcBef>
              <a:spcAft>
                <a:spcPts val="0"/>
              </a:spcAft>
              <a:buSzPts val="12000"/>
              <a:buNone/>
              <a:defRPr sz="12000"/>
            </a:lvl5pPr>
            <a:lvl6pPr lvl="5" rtl="0" algn="ctr">
              <a:lnSpc>
                <a:spcPct val="100000"/>
              </a:lnSpc>
              <a:spcBef>
                <a:spcPts val="0"/>
              </a:spcBef>
              <a:spcAft>
                <a:spcPts val="0"/>
              </a:spcAft>
              <a:buSzPts val="12000"/>
              <a:buNone/>
              <a:defRPr sz="12000"/>
            </a:lvl6pPr>
            <a:lvl7pPr lvl="6" rtl="0" algn="ctr">
              <a:lnSpc>
                <a:spcPct val="100000"/>
              </a:lnSpc>
              <a:spcBef>
                <a:spcPts val="0"/>
              </a:spcBef>
              <a:spcAft>
                <a:spcPts val="0"/>
              </a:spcAft>
              <a:buSzPts val="12000"/>
              <a:buNone/>
              <a:defRPr sz="12000"/>
            </a:lvl7pPr>
            <a:lvl8pPr lvl="7" rtl="0" algn="ctr">
              <a:lnSpc>
                <a:spcPct val="100000"/>
              </a:lnSpc>
              <a:spcBef>
                <a:spcPts val="0"/>
              </a:spcBef>
              <a:spcAft>
                <a:spcPts val="0"/>
              </a:spcAft>
              <a:buSzPts val="12000"/>
              <a:buNone/>
              <a:defRPr sz="12000"/>
            </a:lvl8pPr>
            <a:lvl9pPr lvl="8" rtl="0" algn="ctr">
              <a:lnSpc>
                <a:spcPct val="100000"/>
              </a:lnSpc>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rtl="0" algn="ctr">
              <a:lnSpc>
                <a:spcPct val="115000"/>
              </a:lnSpc>
              <a:spcBef>
                <a:spcPts val="0"/>
              </a:spcBef>
              <a:spcAft>
                <a:spcPts val="0"/>
              </a:spcAft>
              <a:buSzPts val="1800"/>
              <a:buChar char="●"/>
              <a:defRPr/>
            </a:lvl1pPr>
            <a:lvl2pPr indent="-317500" lvl="1" marL="914400" rtl="0" algn="ctr">
              <a:lnSpc>
                <a:spcPct val="115000"/>
              </a:lnSpc>
              <a:spcBef>
                <a:spcPts val="0"/>
              </a:spcBef>
              <a:spcAft>
                <a:spcPts val="0"/>
              </a:spcAft>
              <a:buSzPts val="1400"/>
              <a:buChar char="○"/>
              <a:defRPr/>
            </a:lvl2pPr>
            <a:lvl3pPr indent="-317500" lvl="2" marL="1371600" rtl="0" algn="ctr">
              <a:lnSpc>
                <a:spcPct val="115000"/>
              </a:lnSpc>
              <a:spcBef>
                <a:spcPts val="0"/>
              </a:spcBef>
              <a:spcAft>
                <a:spcPts val="0"/>
              </a:spcAft>
              <a:buSzPts val="1400"/>
              <a:buChar char="■"/>
              <a:defRPr/>
            </a:lvl3pPr>
            <a:lvl4pPr indent="-317500" lvl="3" marL="1828800" rtl="0" algn="ctr">
              <a:lnSpc>
                <a:spcPct val="115000"/>
              </a:lnSpc>
              <a:spcBef>
                <a:spcPts val="0"/>
              </a:spcBef>
              <a:spcAft>
                <a:spcPts val="0"/>
              </a:spcAft>
              <a:buSzPts val="1400"/>
              <a:buChar char="●"/>
              <a:defRPr/>
            </a:lvl4pPr>
            <a:lvl5pPr indent="-317500" lvl="4" marL="2286000" rtl="0" algn="ctr">
              <a:lnSpc>
                <a:spcPct val="115000"/>
              </a:lnSpc>
              <a:spcBef>
                <a:spcPts val="0"/>
              </a:spcBef>
              <a:spcAft>
                <a:spcPts val="0"/>
              </a:spcAft>
              <a:buSzPts val="1400"/>
              <a:buChar char="○"/>
              <a:defRPr/>
            </a:lvl5pPr>
            <a:lvl6pPr indent="-317500" lvl="5" marL="2743200" rtl="0" algn="ctr">
              <a:lnSpc>
                <a:spcPct val="115000"/>
              </a:lnSpc>
              <a:spcBef>
                <a:spcPts val="0"/>
              </a:spcBef>
              <a:spcAft>
                <a:spcPts val="0"/>
              </a:spcAft>
              <a:buSzPts val="1400"/>
              <a:buChar char="■"/>
              <a:defRPr/>
            </a:lvl6pPr>
            <a:lvl7pPr indent="-317500" lvl="6" marL="3200400" rtl="0" algn="ctr">
              <a:lnSpc>
                <a:spcPct val="115000"/>
              </a:lnSpc>
              <a:spcBef>
                <a:spcPts val="0"/>
              </a:spcBef>
              <a:spcAft>
                <a:spcPts val="0"/>
              </a:spcAft>
              <a:buSzPts val="1400"/>
              <a:buChar char="●"/>
              <a:defRPr/>
            </a:lvl7pPr>
            <a:lvl8pPr indent="-317500" lvl="7" marL="3657600" rtl="0" algn="ctr">
              <a:lnSpc>
                <a:spcPct val="115000"/>
              </a:lnSpc>
              <a:spcBef>
                <a:spcPts val="0"/>
              </a:spcBef>
              <a:spcAft>
                <a:spcPts val="0"/>
              </a:spcAft>
              <a:buSzPts val="1400"/>
              <a:buChar char="○"/>
              <a:defRPr/>
            </a:lvl8pPr>
            <a:lvl9pPr indent="-317500" lvl="8" marL="4114800" rtl="0" algn="ctr">
              <a:lnSpc>
                <a:spcPct val="115000"/>
              </a:lnSpc>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Equipment Presentation</a:t>
            </a:r>
            <a:endParaRPr/>
          </a:p>
        </p:txBody>
      </p:sp>
      <p:sp>
        <p:nvSpPr>
          <p:cNvPr id="100" name="Google Shape;100;p2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Tuesday Jan 17, 2023</a:t>
            </a:r>
            <a:endParaRPr/>
          </a:p>
          <a:p>
            <a:pPr indent="0" lvl="0" marL="0" rtl="0" algn="ctr">
              <a:spcBef>
                <a:spcPts val="0"/>
              </a:spcBef>
              <a:spcAft>
                <a:spcPts val="0"/>
              </a:spcAft>
              <a:buNone/>
            </a:pPr>
            <a:r>
              <a:rPr lang="en"/>
              <a:t>Lazlo Paul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6"/>
          <p:cNvSpPr txBox="1"/>
          <p:nvPr/>
        </p:nvSpPr>
        <p:spPr>
          <a:xfrm>
            <a:off x="560825" y="31475"/>
            <a:ext cx="57246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n" sz="2100" u="none" cap="none" strike="noStrike">
                <a:solidFill>
                  <a:srgbClr val="000000"/>
                </a:solidFill>
                <a:latin typeface="Arial"/>
                <a:ea typeface="Arial"/>
                <a:cs typeface="Arial"/>
                <a:sym typeface="Arial"/>
              </a:rPr>
              <a:t>Equipment Refresher</a:t>
            </a:r>
            <a:endParaRPr b="0" i="0" sz="2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Allows </a:t>
            </a:r>
            <a:r>
              <a:rPr b="0" i="0" lang="en" sz="1200" u="sng" cap="none" strike="noStrike">
                <a:solidFill>
                  <a:srgbClr val="000000"/>
                </a:solidFill>
                <a:latin typeface="Arial"/>
                <a:ea typeface="Arial"/>
                <a:cs typeface="Arial"/>
                <a:sym typeface="Arial"/>
              </a:rPr>
              <a:t>incremental modeling</a:t>
            </a:r>
            <a:r>
              <a:rPr b="0" i="0" lang="en" sz="1200" u="none" cap="none" strike="noStrike">
                <a:solidFill>
                  <a:srgbClr val="000000"/>
                </a:solidFill>
                <a:latin typeface="Arial"/>
                <a:ea typeface="Arial"/>
                <a:cs typeface="Arial"/>
                <a:sym typeface="Arial"/>
              </a:rPr>
              <a:t> without removing</a:t>
            </a:r>
            <a:r>
              <a:rPr b="0" i="0" lang="en" sz="1800" u="none" cap="none" strike="noStrike">
                <a:solidFill>
                  <a:srgbClr val="00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triples</a:t>
            </a:r>
            <a:endParaRPr b="0" i="0" sz="1200" u="none" cap="none" strike="noStrike">
              <a:solidFill>
                <a:srgbClr val="000000"/>
              </a:solidFill>
              <a:latin typeface="Arial"/>
              <a:ea typeface="Arial"/>
              <a:cs typeface="Arial"/>
              <a:sym typeface="Arial"/>
            </a:endParaRPr>
          </a:p>
        </p:txBody>
      </p:sp>
      <p:sp>
        <p:nvSpPr>
          <p:cNvPr id="106" name="Google Shape;106;p26"/>
          <p:cNvSpPr/>
          <p:nvPr/>
        </p:nvSpPr>
        <p:spPr>
          <a:xfrm>
            <a:off x="687775" y="2681388"/>
            <a:ext cx="672300" cy="2967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Equip1</a:t>
            </a:r>
            <a:endParaRPr b="0" i="0" sz="900" u="none" cap="none" strike="noStrike">
              <a:solidFill>
                <a:srgbClr val="000000"/>
              </a:solidFill>
              <a:latin typeface="Arial"/>
              <a:ea typeface="Arial"/>
              <a:cs typeface="Arial"/>
              <a:sym typeface="Arial"/>
            </a:endParaRPr>
          </a:p>
        </p:txBody>
      </p:sp>
      <p:sp>
        <p:nvSpPr>
          <p:cNvPr id="107" name="Google Shape;107;p26"/>
          <p:cNvSpPr/>
          <p:nvPr/>
        </p:nvSpPr>
        <p:spPr>
          <a:xfrm>
            <a:off x="597175" y="1233375"/>
            <a:ext cx="853500" cy="1638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Connection1</a:t>
            </a:r>
            <a:endParaRPr b="0" i="0" sz="900" u="none" cap="none" strike="noStrike">
              <a:solidFill>
                <a:srgbClr val="000000"/>
              </a:solidFill>
              <a:latin typeface="Arial"/>
              <a:ea typeface="Arial"/>
              <a:cs typeface="Arial"/>
              <a:sym typeface="Arial"/>
            </a:endParaRPr>
          </a:p>
        </p:txBody>
      </p:sp>
      <p:sp>
        <p:nvSpPr>
          <p:cNvPr id="108" name="Google Shape;108;p26"/>
          <p:cNvSpPr/>
          <p:nvPr/>
        </p:nvSpPr>
        <p:spPr>
          <a:xfrm>
            <a:off x="354775" y="1926675"/>
            <a:ext cx="1338300" cy="163800"/>
          </a:xfrm>
          <a:prstGeom prst="ellipse">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Equip1-CP-In</a:t>
            </a:r>
            <a:endParaRPr b="0" i="0" sz="800" u="none" cap="none" strike="noStrike">
              <a:solidFill>
                <a:srgbClr val="000000"/>
              </a:solidFill>
              <a:latin typeface="Arial"/>
              <a:ea typeface="Arial"/>
              <a:cs typeface="Arial"/>
              <a:sym typeface="Arial"/>
            </a:endParaRPr>
          </a:p>
        </p:txBody>
      </p:sp>
      <p:cxnSp>
        <p:nvCxnSpPr>
          <p:cNvPr id="109" name="Google Shape;109;p26"/>
          <p:cNvCxnSpPr>
            <a:stCxn id="107" idx="2"/>
            <a:endCxn id="108" idx="0"/>
          </p:cNvCxnSpPr>
          <p:nvPr/>
        </p:nvCxnSpPr>
        <p:spPr>
          <a:xfrm>
            <a:off x="1023925" y="1397175"/>
            <a:ext cx="0" cy="529500"/>
          </a:xfrm>
          <a:prstGeom prst="straightConnector1">
            <a:avLst/>
          </a:prstGeom>
          <a:noFill/>
          <a:ln cap="flat" cmpd="sng" w="9525">
            <a:solidFill>
              <a:srgbClr val="000000"/>
            </a:solidFill>
            <a:prstDash val="solid"/>
            <a:round/>
            <a:headEnd len="sm" w="sm" type="none"/>
            <a:tailEnd len="med" w="med" type="triangle"/>
          </a:ln>
        </p:spPr>
      </p:cxnSp>
      <p:cxnSp>
        <p:nvCxnSpPr>
          <p:cNvPr id="110" name="Google Shape;110;p26"/>
          <p:cNvCxnSpPr>
            <a:stCxn id="108" idx="4"/>
            <a:endCxn id="106" idx="0"/>
          </p:cNvCxnSpPr>
          <p:nvPr/>
        </p:nvCxnSpPr>
        <p:spPr>
          <a:xfrm>
            <a:off x="1023925" y="2090475"/>
            <a:ext cx="0" cy="591000"/>
          </a:xfrm>
          <a:prstGeom prst="straightConnector1">
            <a:avLst/>
          </a:prstGeom>
          <a:noFill/>
          <a:ln cap="flat" cmpd="sng" w="9525">
            <a:solidFill>
              <a:srgbClr val="000000"/>
            </a:solidFill>
            <a:prstDash val="solid"/>
            <a:round/>
            <a:headEnd len="sm" w="sm" type="none"/>
            <a:tailEnd len="med" w="med" type="triangle"/>
          </a:ln>
        </p:spPr>
      </p:cxnSp>
      <p:cxnSp>
        <p:nvCxnSpPr>
          <p:cNvPr id="111" name="Google Shape;111;p26"/>
          <p:cNvCxnSpPr>
            <a:stCxn id="106" idx="2"/>
            <a:endCxn id="112" idx="0"/>
          </p:cNvCxnSpPr>
          <p:nvPr/>
        </p:nvCxnSpPr>
        <p:spPr>
          <a:xfrm>
            <a:off x="1023925" y="2978088"/>
            <a:ext cx="0" cy="591000"/>
          </a:xfrm>
          <a:prstGeom prst="straightConnector1">
            <a:avLst/>
          </a:prstGeom>
          <a:noFill/>
          <a:ln cap="flat" cmpd="sng" w="9525">
            <a:solidFill>
              <a:srgbClr val="000000"/>
            </a:solidFill>
            <a:prstDash val="solid"/>
            <a:round/>
            <a:headEnd len="sm" w="sm" type="none"/>
            <a:tailEnd len="med" w="med" type="triangle"/>
          </a:ln>
        </p:spPr>
      </p:cxnSp>
      <p:sp>
        <p:nvSpPr>
          <p:cNvPr id="112" name="Google Shape;112;p26"/>
          <p:cNvSpPr/>
          <p:nvPr/>
        </p:nvSpPr>
        <p:spPr>
          <a:xfrm>
            <a:off x="354775" y="3569000"/>
            <a:ext cx="1338300" cy="163800"/>
          </a:xfrm>
          <a:prstGeom prst="ellipse">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Equip1-CP-Out</a:t>
            </a:r>
            <a:endParaRPr b="0" i="0" sz="800" u="none" cap="none" strike="noStrike">
              <a:solidFill>
                <a:srgbClr val="000000"/>
              </a:solidFill>
              <a:latin typeface="Arial"/>
              <a:ea typeface="Arial"/>
              <a:cs typeface="Arial"/>
              <a:sym typeface="Arial"/>
            </a:endParaRPr>
          </a:p>
        </p:txBody>
      </p:sp>
      <p:cxnSp>
        <p:nvCxnSpPr>
          <p:cNvPr id="113" name="Google Shape;113;p26"/>
          <p:cNvCxnSpPr>
            <a:stCxn id="112" idx="4"/>
            <a:endCxn id="114" idx="0"/>
          </p:cNvCxnSpPr>
          <p:nvPr/>
        </p:nvCxnSpPr>
        <p:spPr>
          <a:xfrm>
            <a:off x="1023925" y="3732800"/>
            <a:ext cx="0" cy="552300"/>
          </a:xfrm>
          <a:prstGeom prst="straightConnector1">
            <a:avLst/>
          </a:prstGeom>
          <a:noFill/>
          <a:ln cap="flat" cmpd="sng" w="9525">
            <a:solidFill>
              <a:srgbClr val="000000"/>
            </a:solidFill>
            <a:prstDash val="solid"/>
            <a:round/>
            <a:headEnd len="sm" w="sm" type="none"/>
            <a:tailEnd len="med" w="med" type="triangle"/>
          </a:ln>
        </p:spPr>
      </p:cxnSp>
      <p:sp>
        <p:nvSpPr>
          <p:cNvPr id="114" name="Google Shape;114;p26"/>
          <p:cNvSpPr/>
          <p:nvPr/>
        </p:nvSpPr>
        <p:spPr>
          <a:xfrm>
            <a:off x="597175" y="4285100"/>
            <a:ext cx="853500" cy="1638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Connection2</a:t>
            </a:r>
            <a:endParaRPr b="0" i="0" sz="900" u="none" cap="none" strike="noStrike">
              <a:solidFill>
                <a:srgbClr val="000000"/>
              </a:solidFill>
              <a:latin typeface="Arial"/>
              <a:ea typeface="Arial"/>
              <a:cs typeface="Arial"/>
              <a:sym typeface="Arial"/>
            </a:endParaRPr>
          </a:p>
        </p:txBody>
      </p:sp>
      <p:sp>
        <p:nvSpPr>
          <p:cNvPr id="115" name="Google Shape;115;p26"/>
          <p:cNvSpPr/>
          <p:nvPr/>
        </p:nvSpPr>
        <p:spPr>
          <a:xfrm>
            <a:off x="3909600" y="2669988"/>
            <a:ext cx="672300" cy="2967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Equip1</a:t>
            </a:r>
            <a:endParaRPr b="0" i="0" sz="900" u="none" cap="none" strike="noStrike">
              <a:solidFill>
                <a:srgbClr val="000000"/>
              </a:solidFill>
              <a:latin typeface="Arial"/>
              <a:ea typeface="Arial"/>
              <a:cs typeface="Arial"/>
              <a:sym typeface="Arial"/>
            </a:endParaRPr>
          </a:p>
        </p:txBody>
      </p:sp>
      <p:sp>
        <p:nvSpPr>
          <p:cNvPr id="116" name="Google Shape;116;p26"/>
          <p:cNvSpPr/>
          <p:nvPr/>
        </p:nvSpPr>
        <p:spPr>
          <a:xfrm>
            <a:off x="3819000" y="1221975"/>
            <a:ext cx="853500" cy="1638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Connection1</a:t>
            </a:r>
            <a:endParaRPr b="0" i="0" sz="900" u="none" cap="none" strike="noStrike">
              <a:solidFill>
                <a:srgbClr val="000000"/>
              </a:solidFill>
              <a:latin typeface="Arial"/>
              <a:ea typeface="Arial"/>
              <a:cs typeface="Arial"/>
              <a:sym typeface="Arial"/>
            </a:endParaRPr>
          </a:p>
        </p:txBody>
      </p:sp>
      <p:sp>
        <p:nvSpPr>
          <p:cNvPr id="117" name="Google Shape;117;p26"/>
          <p:cNvSpPr/>
          <p:nvPr/>
        </p:nvSpPr>
        <p:spPr>
          <a:xfrm>
            <a:off x="3576600" y="1915275"/>
            <a:ext cx="1338300" cy="163800"/>
          </a:xfrm>
          <a:prstGeom prst="ellipse">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Equip1-CP-In</a:t>
            </a:r>
            <a:endParaRPr b="0" i="0" sz="800" u="none" cap="none" strike="noStrike">
              <a:solidFill>
                <a:srgbClr val="000000"/>
              </a:solidFill>
              <a:latin typeface="Arial"/>
              <a:ea typeface="Arial"/>
              <a:cs typeface="Arial"/>
              <a:sym typeface="Arial"/>
            </a:endParaRPr>
          </a:p>
        </p:txBody>
      </p:sp>
      <p:cxnSp>
        <p:nvCxnSpPr>
          <p:cNvPr id="118" name="Google Shape;118;p26"/>
          <p:cNvCxnSpPr>
            <a:stCxn id="116" idx="2"/>
            <a:endCxn id="117" idx="0"/>
          </p:cNvCxnSpPr>
          <p:nvPr/>
        </p:nvCxnSpPr>
        <p:spPr>
          <a:xfrm>
            <a:off x="4245750" y="1385775"/>
            <a:ext cx="0" cy="529500"/>
          </a:xfrm>
          <a:prstGeom prst="straightConnector1">
            <a:avLst/>
          </a:prstGeom>
          <a:noFill/>
          <a:ln cap="flat" cmpd="sng" w="9525">
            <a:solidFill>
              <a:srgbClr val="000000"/>
            </a:solidFill>
            <a:prstDash val="solid"/>
            <a:round/>
            <a:headEnd len="sm" w="sm" type="none"/>
            <a:tailEnd len="med" w="med" type="triangle"/>
          </a:ln>
        </p:spPr>
      </p:cxnSp>
      <p:cxnSp>
        <p:nvCxnSpPr>
          <p:cNvPr id="119" name="Google Shape;119;p26"/>
          <p:cNvCxnSpPr>
            <a:stCxn id="117" idx="4"/>
            <a:endCxn id="115" idx="0"/>
          </p:cNvCxnSpPr>
          <p:nvPr/>
        </p:nvCxnSpPr>
        <p:spPr>
          <a:xfrm>
            <a:off x="4245750" y="2079075"/>
            <a:ext cx="0" cy="591000"/>
          </a:xfrm>
          <a:prstGeom prst="straightConnector1">
            <a:avLst/>
          </a:prstGeom>
          <a:noFill/>
          <a:ln cap="flat" cmpd="sng" w="9525">
            <a:solidFill>
              <a:srgbClr val="000000"/>
            </a:solidFill>
            <a:prstDash val="solid"/>
            <a:round/>
            <a:headEnd len="sm" w="sm" type="none"/>
            <a:tailEnd len="med" w="med" type="triangle"/>
          </a:ln>
        </p:spPr>
      </p:cxnSp>
      <p:cxnSp>
        <p:nvCxnSpPr>
          <p:cNvPr id="120" name="Google Shape;120;p26"/>
          <p:cNvCxnSpPr>
            <a:stCxn id="115" idx="2"/>
            <a:endCxn id="121" idx="0"/>
          </p:cNvCxnSpPr>
          <p:nvPr/>
        </p:nvCxnSpPr>
        <p:spPr>
          <a:xfrm>
            <a:off x="4245750" y="2966688"/>
            <a:ext cx="0" cy="591000"/>
          </a:xfrm>
          <a:prstGeom prst="straightConnector1">
            <a:avLst/>
          </a:prstGeom>
          <a:noFill/>
          <a:ln cap="flat" cmpd="sng" w="9525">
            <a:solidFill>
              <a:srgbClr val="000000"/>
            </a:solidFill>
            <a:prstDash val="solid"/>
            <a:round/>
            <a:headEnd len="sm" w="sm" type="none"/>
            <a:tailEnd len="med" w="med" type="triangle"/>
          </a:ln>
        </p:spPr>
      </p:cxnSp>
      <p:sp>
        <p:nvSpPr>
          <p:cNvPr id="121" name="Google Shape;121;p26"/>
          <p:cNvSpPr/>
          <p:nvPr/>
        </p:nvSpPr>
        <p:spPr>
          <a:xfrm>
            <a:off x="3576600" y="3557600"/>
            <a:ext cx="1338300" cy="163800"/>
          </a:xfrm>
          <a:prstGeom prst="ellipse">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Arial"/>
                <a:ea typeface="Arial"/>
                <a:cs typeface="Arial"/>
                <a:sym typeface="Arial"/>
              </a:rPr>
              <a:t>Equip</a:t>
            </a:r>
            <a:r>
              <a:rPr b="0" i="0" lang="en" sz="800" u="none" cap="none" strike="noStrike">
                <a:solidFill>
                  <a:srgbClr val="000000"/>
                </a:solidFill>
                <a:latin typeface="Arial"/>
                <a:ea typeface="Arial"/>
                <a:cs typeface="Arial"/>
                <a:sym typeface="Arial"/>
              </a:rPr>
              <a:t>1-CP-Out</a:t>
            </a:r>
            <a:endParaRPr b="0" i="0" sz="800" u="none" cap="none" strike="noStrike">
              <a:solidFill>
                <a:srgbClr val="000000"/>
              </a:solidFill>
              <a:latin typeface="Arial"/>
              <a:ea typeface="Arial"/>
              <a:cs typeface="Arial"/>
              <a:sym typeface="Arial"/>
            </a:endParaRPr>
          </a:p>
        </p:txBody>
      </p:sp>
      <p:cxnSp>
        <p:nvCxnSpPr>
          <p:cNvPr id="122" name="Google Shape;122;p26"/>
          <p:cNvCxnSpPr>
            <a:stCxn id="121" idx="4"/>
            <a:endCxn id="123" idx="0"/>
          </p:cNvCxnSpPr>
          <p:nvPr/>
        </p:nvCxnSpPr>
        <p:spPr>
          <a:xfrm>
            <a:off x="4245750" y="3721400"/>
            <a:ext cx="0" cy="552300"/>
          </a:xfrm>
          <a:prstGeom prst="straightConnector1">
            <a:avLst/>
          </a:prstGeom>
          <a:noFill/>
          <a:ln cap="flat" cmpd="sng" w="9525">
            <a:solidFill>
              <a:srgbClr val="000000"/>
            </a:solidFill>
            <a:prstDash val="solid"/>
            <a:round/>
            <a:headEnd len="sm" w="sm" type="none"/>
            <a:tailEnd len="med" w="med" type="triangle"/>
          </a:ln>
        </p:spPr>
      </p:cxnSp>
      <p:sp>
        <p:nvSpPr>
          <p:cNvPr id="123" name="Google Shape;123;p26"/>
          <p:cNvSpPr/>
          <p:nvPr/>
        </p:nvSpPr>
        <p:spPr>
          <a:xfrm>
            <a:off x="3819000" y="4273700"/>
            <a:ext cx="853500" cy="1638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Connection2</a:t>
            </a:r>
            <a:endParaRPr b="0" i="0" sz="900" u="none" cap="none" strike="noStrike">
              <a:solidFill>
                <a:srgbClr val="000000"/>
              </a:solidFill>
              <a:latin typeface="Arial"/>
              <a:ea typeface="Arial"/>
              <a:cs typeface="Arial"/>
              <a:sym typeface="Arial"/>
            </a:endParaRPr>
          </a:p>
        </p:txBody>
      </p:sp>
      <p:sp>
        <p:nvSpPr>
          <p:cNvPr id="124" name="Google Shape;124;p26"/>
          <p:cNvSpPr/>
          <p:nvPr/>
        </p:nvSpPr>
        <p:spPr>
          <a:xfrm>
            <a:off x="2935675" y="2530533"/>
            <a:ext cx="672300" cy="1851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Equip1a</a:t>
            </a:r>
            <a:endParaRPr b="0" i="0" sz="900" u="none" cap="none" strike="noStrike">
              <a:solidFill>
                <a:srgbClr val="000000"/>
              </a:solidFill>
              <a:latin typeface="Arial"/>
              <a:ea typeface="Arial"/>
              <a:cs typeface="Arial"/>
              <a:sym typeface="Arial"/>
            </a:endParaRPr>
          </a:p>
        </p:txBody>
      </p:sp>
      <p:sp>
        <p:nvSpPr>
          <p:cNvPr id="125" name="Google Shape;125;p26"/>
          <p:cNvSpPr/>
          <p:nvPr/>
        </p:nvSpPr>
        <p:spPr>
          <a:xfrm>
            <a:off x="2442175" y="2836571"/>
            <a:ext cx="672300" cy="1851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Equip1b</a:t>
            </a:r>
            <a:endParaRPr b="0" i="0" sz="900" u="none" cap="none" strike="noStrike">
              <a:solidFill>
                <a:srgbClr val="000000"/>
              </a:solidFill>
              <a:latin typeface="Arial"/>
              <a:ea typeface="Arial"/>
              <a:cs typeface="Arial"/>
              <a:sym typeface="Arial"/>
            </a:endParaRPr>
          </a:p>
        </p:txBody>
      </p:sp>
      <p:cxnSp>
        <p:nvCxnSpPr>
          <p:cNvPr id="126" name="Google Shape;126;p26"/>
          <p:cNvCxnSpPr>
            <a:stCxn id="115" idx="1"/>
            <a:endCxn id="125" idx="3"/>
          </p:cNvCxnSpPr>
          <p:nvPr/>
        </p:nvCxnSpPr>
        <p:spPr>
          <a:xfrm flipH="1">
            <a:off x="3114600" y="2818338"/>
            <a:ext cx="795000" cy="110700"/>
          </a:xfrm>
          <a:prstGeom prst="straightConnector1">
            <a:avLst/>
          </a:prstGeom>
          <a:noFill/>
          <a:ln cap="flat" cmpd="sng" w="9525">
            <a:solidFill>
              <a:srgbClr val="000000"/>
            </a:solidFill>
            <a:prstDash val="solid"/>
            <a:round/>
            <a:headEnd len="sm" w="sm" type="none"/>
            <a:tailEnd len="med" w="med" type="triangle"/>
          </a:ln>
        </p:spPr>
      </p:cxnSp>
      <p:cxnSp>
        <p:nvCxnSpPr>
          <p:cNvPr id="127" name="Google Shape;127;p26"/>
          <p:cNvCxnSpPr>
            <a:stCxn id="115" idx="1"/>
            <a:endCxn id="124" idx="3"/>
          </p:cNvCxnSpPr>
          <p:nvPr/>
        </p:nvCxnSpPr>
        <p:spPr>
          <a:xfrm rot="10800000">
            <a:off x="3608100" y="2623038"/>
            <a:ext cx="301500" cy="195300"/>
          </a:xfrm>
          <a:prstGeom prst="straightConnector1">
            <a:avLst/>
          </a:prstGeom>
          <a:noFill/>
          <a:ln cap="flat" cmpd="sng" w="9525">
            <a:solidFill>
              <a:srgbClr val="000000"/>
            </a:solidFill>
            <a:prstDash val="solid"/>
            <a:round/>
            <a:headEnd len="sm" w="sm" type="none"/>
            <a:tailEnd len="med" w="med" type="triangle"/>
          </a:ln>
        </p:spPr>
      </p:cxnSp>
      <p:sp>
        <p:nvSpPr>
          <p:cNvPr id="128" name="Google Shape;128;p26"/>
          <p:cNvSpPr txBox="1"/>
          <p:nvPr/>
        </p:nvSpPr>
        <p:spPr>
          <a:xfrm>
            <a:off x="3231375" y="2635950"/>
            <a:ext cx="6315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FF"/>
                </a:solidFill>
                <a:latin typeface="Arial"/>
                <a:ea typeface="Arial"/>
                <a:cs typeface="Arial"/>
                <a:sym typeface="Arial"/>
              </a:rPr>
              <a:t>contains</a:t>
            </a:r>
            <a:endParaRPr b="0" i="0" sz="900" u="none" cap="none" strike="noStrike">
              <a:solidFill>
                <a:srgbClr val="0000FF"/>
              </a:solidFill>
              <a:latin typeface="Arial"/>
              <a:ea typeface="Arial"/>
              <a:cs typeface="Arial"/>
              <a:sym typeface="Arial"/>
            </a:endParaRPr>
          </a:p>
        </p:txBody>
      </p:sp>
      <p:sp>
        <p:nvSpPr>
          <p:cNvPr id="129" name="Google Shape;129;p26"/>
          <p:cNvSpPr/>
          <p:nvPr/>
        </p:nvSpPr>
        <p:spPr>
          <a:xfrm>
            <a:off x="7506775" y="2669988"/>
            <a:ext cx="672300" cy="2967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Arial"/>
                <a:ea typeface="Arial"/>
                <a:cs typeface="Arial"/>
                <a:sym typeface="Arial"/>
              </a:rPr>
              <a:t>Equip</a:t>
            </a:r>
            <a:r>
              <a:rPr b="0" i="0" lang="en" sz="900" u="none" cap="none" strike="noStrike">
                <a:solidFill>
                  <a:srgbClr val="000000"/>
                </a:solidFill>
                <a:latin typeface="Arial"/>
                <a:ea typeface="Arial"/>
                <a:cs typeface="Arial"/>
                <a:sym typeface="Arial"/>
              </a:rPr>
              <a:t>1</a:t>
            </a:r>
            <a:endParaRPr b="0" i="0" sz="900" u="none" cap="none" strike="noStrike">
              <a:solidFill>
                <a:srgbClr val="000000"/>
              </a:solidFill>
              <a:latin typeface="Arial"/>
              <a:ea typeface="Arial"/>
              <a:cs typeface="Arial"/>
              <a:sym typeface="Arial"/>
            </a:endParaRPr>
          </a:p>
        </p:txBody>
      </p:sp>
      <p:sp>
        <p:nvSpPr>
          <p:cNvPr id="130" name="Google Shape;130;p26"/>
          <p:cNvSpPr/>
          <p:nvPr/>
        </p:nvSpPr>
        <p:spPr>
          <a:xfrm>
            <a:off x="7416175" y="1221975"/>
            <a:ext cx="853500" cy="1638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Connection1</a:t>
            </a:r>
            <a:endParaRPr b="0" i="0" sz="900" u="none" cap="none" strike="noStrike">
              <a:solidFill>
                <a:srgbClr val="000000"/>
              </a:solidFill>
              <a:latin typeface="Arial"/>
              <a:ea typeface="Arial"/>
              <a:cs typeface="Arial"/>
              <a:sym typeface="Arial"/>
            </a:endParaRPr>
          </a:p>
        </p:txBody>
      </p:sp>
      <p:sp>
        <p:nvSpPr>
          <p:cNvPr id="131" name="Google Shape;131;p26"/>
          <p:cNvSpPr/>
          <p:nvPr/>
        </p:nvSpPr>
        <p:spPr>
          <a:xfrm>
            <a:off x="7173775" y="1922500"/>
            <a:ext cx="1338300" cy="163800"/>
          </a:xfrm>
          <a:prstGeom prst="ellipse">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Arial"/>
                <a:ea typeface="Arial"/>
                <a:cs typeface="Arial"/>
                <a:sym typeface="Arial"/>
              </a:rPr>
              <a:t>Equip</a:t>
            </a:r>
            <a:r>
              <a:rPr b="0" i="0" lang="en" sz="800" u="none" cap="none" strike="noStrike">
                <a:solidFill>
                  <a:srgbClr val="000000"/>
                </a:solidFill>
                <a:latin typeface="Arial"/>
                <a:ea typeface="Arial"/>
                <a:cs typeface="Arial"/>
                <a:sym typeface="Arial"/>
              </a:rPr>
              <a:t>1-CP-In</a:t>
            </a:r>
            <a:endParaRPr b="0" i="0" sz="800" u="none" cap="none" strike="noStrike">
              <a:solidFill>
                <a:srgbClr val="000000"/>
              </a:solidFill>
              <a:latin typeface="Arial"/>
              <a:ea typeface="Arial"/>
              <a:cs typeface="Arial"/>
              <a:sym typeface="Arial"/>
            </a:endParaRPr>
          </a:p>
        </p:txBody>
      </p:sp>
      <p:cxnSp>
        <p:nvCxnSpPr>
          <p:cNvPr id="132" name="Google Shape;132;p26"/>
          <p:cNvCxnSpPr>
            <a:stCxn id="130" idx="2"/>
            <a:endCxn id="131" idx="0"/>
          </p:cNvCxnSpPr>
          <p:nvPr/>
        </p:nvCxnSpPr>
        <p:spPr>
          <a:xfrm>
            <a:off x="7842925" y="1385775"/>
            <a:ext cx="0" cy="536700"/>
          </a:xfrm>
          <a:prstGeom prst="straightConnector1">
            <a:avLst/>
          </a:prstGeom>
          <a:noFill/>
          <a:ln cap="flat" cmpd="sng" w="9525">
            <a:solidFill>
              <a:srgbClr val="000000"/>
            </a:solidFill>
            <a:prstDash val="solid"/>
            <a:round/>
            <a:headEnd len="sm" w="sm" type="none"/>
            <a:tailEnd len="med" w="med" type="triangle"/>
          </a:ln>
        </p:spPr>
      </p:cxnSp>
      <p:cxnSp>
        <p:nvCxnSpPr>
          <p:cNvPr id="133" name="Google Shape;133;p26"/>
          <p:cNvCxnSpPr>
            <a:stCxn id="131" idx="4"/>
            <a:endCxn id="129" idx="0"/>
          </p:cNvCxnSpPr>
          <p:nvPr/>
        </p:nvCxnSpPr>
        <p:spPr>
          <a:xfrm>
            <a:off x="7842925" y="2086300"/>
            <a:ext cx="0" cy="583800"/>
          </a:xfrm>
          <a:prstGeom prst="straightConnector1">
            <a:avLst/>
          </a:prstGeom>
          <a:noFill/>
          <a:ln cap="flat" cmpd="sng" w="9525">
            <a:solidFill>
              <a:srgbClr val="000000"/>
            </a:solidFill>
            <a:prstDash val="solid"/>
            <a:round/>
            <a:headEnd len="sm" w="sm" type="none"/>
            <a:tailEnd len="med" w="med" type="triangle"/>
          </a:ln>
        </p:spPr>
      </p:cxnSp>
      <p:cxnSp>
        <p:nvCxnSpPr>
          <p:cNvPr id="134" name="Google Shape;134;p26"/>
          <p:cNvCxnSpPr>
            <a:stCxn id="129" idx="2"/>
            <a:endCxn id="135" idx="0"/>
          </p:cNvCxnSpPr>
          <p:nvPr/>
        </p:nvCxnSpPr>
        <p:spPr>
          <a:xfrm>
            <a:off x="7842925" y="2966688"/>
            <a:ext cx="0" cy="591000"/>
          </a:xfrm>
          <a:prstGeom prst="straightConnector1">
            <a:avLst/>
          </a:prstGeom>
          <a:noFill/>
          <a:ln cap="flat" cmpd="sng" w="9525">
            <a:solidFill>
              <a:srgbClr val="000000"/>
            </a:solidFill>
            <a:prstDash val="solid"/>
            <a:round/>
            <a:headEnd len="sm" w="sm" type="none"/>
            <a:tailEnd len="med" w="med" type="triangle"/>
          </a:ln>
        </p:spPr>
      </p:cxnSp>
      <p:sp>
        <p:nvSpPr>
          <p:cNvPr id="135" name="Google Shape;135;p26"/>
          <p:cNvSpPr/>
          <p:nvPr/>
        </p:nvSpPr>
        <p:spPr>
          <a:xfrm>
            <a:off x="7173775" y="3557600"/>
            <a:ext cx="1338300" cy="163800"/>
          </a:xfrm>
          <a:prstGeom prst="ellipse">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Arial"/>
                <a:ea typeface="Arial"/>
                <a:cs typeface="Arial"/>
                <a:sym typeface="Arial"/>
              </a:rPr>
              <a:t>Equip</a:t>
            </a:r>
            <a:r>
              <a:rPr b="0" i="0" lang="en" sz="800" u="none" cap="none" strike="noStrike">
                <a:solidFill>
                  <a:srgbClr val="000000"/>
                </a:solidFill>
                <a:latin typeface="Arial"/>
                <a:ea typeface="Arial"/>
                <a:cs typeface="Arial"/>
                <a:sym typeface="Arial"/>
              </a:rPr>
              <a:t>1-CP-Out</a:t>
            </a:r>
            <a:endParaRPr b="0" i="0" sz="800" u="none" cap="none" strike="noStrike">
              <a:solidFill>
                <a:srgbClr val="000000"/>
              </a:solidFill>
              <a:latin typeface="Arial"/>
              <a:ea typeface="Arial"/>
              <a:cs typeface="Arial"/>
              <a:sym typeface="Arial"/>
            </a:endParaRPr>
          </a:p>
        </p:txBody>
      </p:sp>
      <p:cxnSp>
        <p:nvCxnSpPr>
          <p:cNvPr id="136" name="Google Shape;136;p26"/>
          <p:cNvCxnSpPr>
            <a:stCxn id="135" idx="4"/>
            <a:endCxn id="137" idx="0"/>
          </p:cNvCxnSpPr>
          <p:nvPr/>
        </p:nvCxnSpPr>
        <p:spPr>
          <a:xfrm>
            <a:off x="7842925" y="3721400"/>
            <a:ext cx="0" cy="552300"/>
          </a:xfrm>
          <a:prstGeom prst="straightConnector1">
            <a:avLst/>
          </a:prstGeom>
          <a:noFill/>
          <a:ln cap="flat" cmpd="sng" w="9525">
            <a:solidFill>
              <a:srgbClr val="000000"/>
            </a:solidFill>
            <a:prstDash val="solid"/>
            <a:round/>
            <a:headEnd len="sm" w="sm" type="none"/>
            <a:tailEnd len="med" w="med" type="triangle"/>
          </a:ln>
        </p:spPr>
      </p:cxnSp>
      <p:sp>
        <p:nvSpPr>
          <p:cNvPr id="137" name="Google Shape;137;p26"/>
          <p:cNvSpPr/>
          <p:nvPr/>
        </p:nvSpPr>
        <p:spPr>
          <a:xfrm>
            <a:off x="7416175" y="4273700"/>
            <a:ext cx="853500" cy="1638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Connection2</a:t>
            </a:r>
            <a:endParaRPr b="0" i="0" sz="900" u="none" cap="none" strike="noStrike">
              <a:solidFill>
                <a:srgbClr val="000000"/>
              </a:solidFill>
              <a:latin typeface="Arial"/>
              <a:ea typeface="Arial"/>
              <a:cs typeface="Arial"/>
              <a:sym typeface="Arial"/>
            </a:endParaRPr>
          </a:p>
        </p:txBody>
      </p:sp>
      <p:sp>
        <p:nvSpPr>
          <p:cNvPr id="138" name="Google Shape;138;p26"/>
          <p:cNvSpPr/>
          <p:nvPr/>
        </p:nvSpPr>
        <p:spPr>
          <a:xfrm>
            <a:off x="6532850" y="2530533"/>
            <a:ext cx="672300" cy="1851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Arial"/>
                <a:ea typeface="Arial"/>
                <a:cs typeface="Arial"/>
                <a:sym typeface="Arial"/>
              </a:rPr>
              <a:t>Equip</a:t>
            </a:r>
            <a:r>
              <a:rPr b="0" i="0" lang="en" sz="900" u="none" cap="none" strike="noStrike">
                <a:solidFill>
                  <a:srgbClr val="000000"/>
                </a:solidFill>
                <a:latin typeface="Arial"/>
                <a:ea typeface="Arial"/>
                <a:cs typeface="Arial"/>
                <a:sym typeface="Arial"/>
              </a:rPr>
              <a:t>1a</a:t>
            </a:r>
            <a:endParaRPr b="0" i="0" sz="900" u="none" cap="none" strike="noStrike">
              <a:solidFill>
                <a:srgbClr val="000000"/>
              </a:solidFill>
              <a:latin typeface="Arial"/>
              <a:ea typeface="Arial"/>
              <a:cs typeface="Arial"/>
              <a:sym typeface="Arial"/>
            </a:endParaRPr>
          </a:p>
        </p:txBody>
      </p:sp>
      <p:sp>
        <p:nvSpPr>
          <p:cNvPr id="139" name="Google Shape;139;p26"/>
          <p:cNvSpPr/>
          <p:nvPr/>
        </p:nvSpPr>
        <p:spPr>
          <a:xfrm>
            <a:off x="6039350" y="2836571"/>
            <a:ext cx="672300" cy="1851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Arial"/>
                <a:ea typeface="Arial"/>
                <a:cs typeface="Arial"/>
                <a:sym typeface="Arial"/>
              </a:rPr>
              <a:t>Equip</a:t>
            </a:r>
            <a:r>
              <a:rPr b="0" i="0" lang="en" sz="900" u="none" cap="none" strike="noStrike">
                <a:solidFill>
                  <a:srgbClr val="000000"/>
                </a:solidFill>
                <a:latin typeface="Arial"/>
                <a:ea typeface="Arial"/>
                <a:cs typeface="Arial"/>
                <a:sym typeface="Arial"/>
              </a:rPr>
              <a:t>1b</a:t>
            </a:r>
            <a:endParaRPr b="0" i="0" sz="900" u="none" cap="none" strike="noStrike">
              <a:solidFill>
                <a:srgbClr val="000000"/>
              </a:solidFill>
              <a:latin typeface="Arial"/>
              <a:ea typeface="Arial"/>
              <a:cs typeface="Arial"/>
              <a:sym typeface="Arial"/>
            </a:endParaRPr>
          </a:p>
        </p:txBody>
      </p:sp>
      <p:cxnSp>
        <p:nvCxnSpPr>
          <p:cNvPr id="140" name="Google Shape;140;p26"/>
          <p:cNvCxnSpPr>
            <a:stCxn id="129" idx="1"/>
            <a:endCxn id="139" idx="3"/>
          </p:cNvCxnSpPr>
          <p:nvPr/>
        </p:nvCxnSpPr>
        <p:spPr>
          <a:xfrm flipH="1">
            <a:off x="6711775" y="2818338"/>
            <a:ext cx="795000" cy="110700"/>
          </a:xfrm>
          <a:prstGeom prst="straightConnector1">
            <a:avLst/>
          </a:prstGeom>
          <a:noFill/>
          <a:ln cap="flat" cmpd="sng" w="9525">
            <a:solidFill>
              <a:srgbClr val="000000"/>
            </a:solidFill>
            <a:prstDash val="solid"/>
            <a:round/>
            <a:headEnd len="sm" w="sm" type="none"/>
            <a:tailEnd len="med" w="med" type="triangle"/>
          </a:ln>
        </p:spPr>
      </p:cxnSp>
      <p:cxnSp>
        <p:nvCxnSpPr>
          <p:cNvPr id="141" name="Google Shape;141;p26"/>
          <p:cNvCxnSpPr>
            <a:stCxn id="129" idx="1"/>
            <a:endCxn id="138" idx="3"/>
          </p:cNvCxnSpPr>
          <p:nvPr/>
        </p:nvCxnSpPr>
        <p:spPr>
          <a:xfrm rot="10800000">
            <a:off x="7205275" y="2623038"/>
            <a:ext cx="301500" cy="195300"/>
          </a:xfrm>
          <a:prstGeom prst="straightConnector1">
            <a:avLst/>
          </a:prstGeom>
          <a:noFill/>
          <a:ln cap="flat" cmpd="sng" w="9525">
            <a:solidFill>
              <a:srgbClr val="000000"/>
            </a:solidFill>
            <a:prstDash val="solid"/>
            <a:round/>
            <a:headEnd len="sm" w="sm" type="none"/>
            <a:tailEnd len="med" w="med" type="triangle"/>
          </a:ln>
        </p:spPr>
      </p:cxnSp>
      <p:sp>
        <p:nvSpPr>
          <p:cNvPr id="142" name="Google Shape;142;p26"/>
          <p:cNvSpPr txBox="1"/>
          <p:nvPr/>
        </p:nvSpPr>
        <p:spPr>
          <a:xfrm>
            <a:off x="6828550" y="2635950"/>
            <a:ext cx="6315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FF"/>
                </a:solidFill>
                <a:latin typeface="Arial"/>
                <a:ea typeface="Arial"/>
                <a:cs typeface="Arial"/>
                <a:sym typeface="Arial"/>
              </a:rPr>
              <a:t>contains</a:t>
            </a:r>
            <a:endParaRPr b="0" i="0" sz="900" u="none" cap="none" strike="noStrike">
              <a:solidFill>
                <a:srgbClr val="0000FF"/>
              </a:solidFill>
              <a:latin typeface="Arial"/>
              <a:ea typeface="Arial"/>
              <a:cs typeface="Arial"/>
              <a:sym typeface="Arial"/>
            </a:endParaRPr>
          </a:p>
        </p:txBody>
      </p:sp>
      <p:sp>
        <p:nvSpPr>
          <p:cNvPr id="143" name="Google Shape;143;p26"/>
          <p:cNvSpPr/>
          <p:nvPr/>
        </p:nvSpPr>
        <p:spPr>
          <a:xfrm>
            <a:off x="5706350" y="2090475"/>
            <a:ext cx="1338300" cy="163800"/>
          </a:xfrm>
          <a:prstGeom prst="ellipse">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Arial"/>
                <a:ea typeface="Arial"/>
                <a:cs typeface="Arial"/>
                <a:sym typeface="Arial"/>
              </a:rPr>
              <a:t>Equip</a:t>
            </a:r>
            <a:r>
              <a:rPr b="0" i="0" lang="en" sz="800" u="none" cap="none" strike="noStrike">
                <a:solidFill>
                  <a:srgbClr val="000000"/>
                </a:solidFill>
                <a:latin typeface="Arial"/>
                <a:ea typeface="Arial"/>
                <a:cs typeface="Arial"/>
                <a:sym typeface="Arial"/>
              </a:rPr>
              <a:t>1b-CP-In</a:t>
            </a:r>
            <a:endParaRPr b="0" i="0" sz="800" u="none" cap="none" strike="noStrike">
              <a:solidFill>
                <a:srgbClr val="000000"/>
              </a:solidFill>
              <a:latin typeface="Arial"/>
              <a:ea typeface="Arial"/>
              <a:cs typeface="Arial"/>
              <a:sym typeface="Arial"/>
            </a:endParaRPr>
          </a:p>
        </p:txBody>
      </p:sp>
      <p:sp>
        <p:nvSpPr>
          <p:cNvPr id="144" name="Google Shape;144;p26"/>
          <p:cNvSpPr/>
          <p:nvPr/>
        </p:nvSpPr>
        <p:spPr>
          <a:xfrm>
            <a:off x="5656446" y="3271975"/>
            <a:ext cx="1435500" cy="163800"/>
          </a:xfrm>
          <a:prstGeom prst="ellipse">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Arial"/>
                <a:ea typeface="Arial"/>
                <a:cs typeface="Arial"/>
                <a:sym typeface="Arial"/>
              </a:rPr>
              <a:t>Equip</a:t>
            </a:r>
            <a:r>
              <a:rPr b="0" i="0" lang="en" sz="800" u="none" cap="none" strike="noStrike">
                <a:solidFill>
                  <a:srgbClr val="000000"/>
                </a:solidFill>
                <a:latin typeface="Arial"/>
                <a:ea typeface="Arial"/>
                <a:cs typeface="Arial"/>
                <a:sym typeface="Arial"/>
              </a:rPr>
              <a:t>1b-CP-Out</a:t>
            </a:r>
            <a:endParaRPr b="0" i="0" sz="800" u="none" cap="none" strike="noStrike">
              <a:solidFill>
                <a:srgbClr val="000000"/>
              </a:solidFill>
              <a:latin typeface="Arial"/>
              <a:ea typeface="Arial"/>
              <a:cs typeface="Arial"/>
              <a:sym typeface="Arial"/>
            </a:endParaRPr>
          </a:p>
        </p:txBody>
      </p:sp>
      <p:cxnSp>
        <p:nvCxnSpPr>
          <p:cNvPr id="145" name="Google Shape;145;p26"/>
          <p:cNvCxnSpPr>
            <a:stCxn id="131" idx="2"/>
            <a:endCxn id="143" idx="7"/>
          </p:cNvCxnSpPr>
          <p:nvPr/>
        </p:nvCxnSpPr>
        <p:spPr>
          <a:xfrm flipH="1">
            <a:off x="6848575" y="2004400"/>
            <a:ext cx="325200" cy="110100"/>
          </a:xfrm>
          <a:prstGeom prst="straightConnector1">
            <a:avLst/>
          </a:prstGeom>
          <a:noFill/>
          <a:ln cap="flat" cmpd="sng" w="9525">
            <a:solidFill>
              <a:srgbClr val="000000"/>
            </a:solidFill>
            <a:prstDash val="solid"/>
            <a:round/>
            <a:headEnd len="med" w="med" type="triangle"/>
            <a:tailEnd len="sm" w="sm" type="none"/>
          </a:ln>
        </p:spPr>
      </p:cxnSp>
      <p:cxnSp>
        <p:nvCxnSpPr>
          <p:cNvPr id="146" name="Google Shape;146;p26"/>
          <p:cNvCxnSpPr>
            <a:stCxn id="135" idx="2"/>
            <a:endCxn id="144" idx="5"/>
          </p:cNvCxnSpPr>
          <p:nvPr/>
        </p:nvCxnSpPr>
        <p:spPr>
          <a:xfrm rot="10800000">
            <a:off x="6881575" y="3411800"/>
            <a:ext cx="292200" cy="227700"/>
          </a:xfrm>
          <a:prstGeom prst="straightConnector1">
            <a:avLst/>
          </a:prstGeom>
          <a:noFill/>
          <a:ln cap="flat" cmpd="sng" w="9525">
            <a:solidFill>
              <a:srgbClr val="000000"/>
            </a:solidFill>
            <a:prstDash val="solid"/>
            <a:round/>
            <a:headEnd len="med" w="med" type="triangle"/>
            <a:tailEnd len="sm" w="sm" type="none"/>
          </a:ln>
        </p:spPr>
      </p:cxnSp>
      <p:cxnSp>
        <p:nvCxnSpPr>
          <p:cNvPr id="147" name="Google Shape;147;p26"/>
          <p:cNvCxnSpPr>
            <a:stCxn id="143" idx="4"/>
            <a:endCxn id="139" idx="0"/>
          </p:cNvCxnSpPr>
          <p:nvPr/>
        </p:nvCxnSpPr>
        <p:spPr>
          <a:xfrm>
            <a:off x="6375500" y="2254275"/>
            <a:ext cx="0" cy="582300"/>
          </a:xfrm>
          <a:prstGeom prst="straightConnector1">
            <a:avLst/>
          </a:prstGeom>
          <a:noFill/>
          <a:ln cap="flat" cmpd="sng" w="9525">
            <a:solidFill>
              <a:srgbClr val="000000"/>
            </a:solidFill>
            <a:prstDash val="solid"/>
            <a:round/>
            <a:headEnd len="sm" w="sm" type="none"/>
            <a:tailEnd len="med" w="med" type="triangle"/>
          </a:ln>
        </p:spPr>
      </p:cxnSp>
      <p:cxnSp>
        <p:nvCxnSpPr>
          <p:cNvPr id="148" name="Google Shape;148;p26"/>
          <p:cNvCxnSpPr>
            <a:stCxn id="139" idx="2"/>
            <a:endCxn id="144" idx="0"/>
          </p:cNvCxnSpPr>
          <p:nvPr/>
        </p:nvCxnSpPr>
        <p:spPr>
          <a:xfrm flipH="1">
            <a:off x="6374300" y="3021671"/>
            <a:ext cx="1200" cy="250200"/>
          </a:xfrm>
          <a:prstGeom prst="straightConnector1">
            <a:avLst/>
          </a:prstGeom>
          <a:noFill/>
          <a:ln cap="flat" cmpd="sng" w="9525">
            <a:solidFill>
              <a:srgbClr val="000000"/>
            </a:solidFill>
            <a:prstDash val="solid"/>
            <a:round/>
            <a:headEnd len="sm" w="sm" type="none"/>
            <a:tailEnd len="med" w="med" type="triangle"/>
          </a:ln>
        </p:spPr>
      </p:cxnSp>
      <p:sp>
        <p:nvSpPr>
          <p:cNvPr id="149" name="Google Shape;149;p26"/>
          <p:cNvSpPr txBox="1"/>
          <p:nvPr/>
        </p:nvSpPr>
        <p:spPr>
          <a:xfrm>
            <a:off x="6954775" y="1973107"/>
            <a:ext cx="6315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FF"/>
                </a:solidFill>
                <a:latin typeface="Arial"/>
                <a:ea typeface="Arial"/>
                <a:cs typeface="Arial"/>
                <a:sym typeface="Arial"/>
              </a:rPr>
              <a:t>mapsTo</a:t>
            </a:r>
            <a:endParaRPr b="0" i="0" sz="900" u="none" cap="none" strike="noStrike">
              <a:solidFill>
                <a:srgbClr val="0000FF"/>
              </a:solidFill>
              <a:latin typeface="Arial"/>
              <a:ea typeface="Arial"/>
              <a:cs typeface="Arial"/>
              <a:sym typeface="Arial"/>
            </a:endParaRPr>
          </a:p>
        </p:txBody>
      </p:sp>
      <p:sp>
        <p:nvSpPr>
          <p:cNvPr id="150" name="Google Shape;150;p26"/>
          <p:cNvSpPr txBox="1"/>
          <p:nvPr/>
        </p:nvSpPr>
        <p:spPr>
          <a:xfrm>
            <a:off x="6928996" y="3312356"/>
            <a:ext cx="6315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FF"/>
                </a:solidFill>
                <a:latin typeface="Arial"/>
                <a:ea typeface="Arial"/>
                <a:cs typeface="Arial"/>
                <a:sym typeface="Arial"/>
              </a:rPr>
              <a:t>mapsTo</a:t>
            </a:r>
            <a:endParaRPr b="0" i="0" sz="900" u="none" cap="none" strike="noStrike">
              <a:solidFill>
                <a:srgbClr val="0000FF"/>
              </a:solidFill>
              <a:latin typeface="Arial"/>
              <a:ea typeface="Arial"/>
              <a:cs typeface="Arial"/>
              <a:sym typeface="Arial"/>
            </a:endParaRPr>
          </a:p>
        </p:txBody>
      </p:sp>
      <p:sp>
        <p:nvSpPr>
          <p:cNvPr id="151" name="Google Shape;151;p26"/>
          <p:cNvSpPr txBox="1"/>
          <p:nvPr/>
        </p:nvSpPr>
        <p:spPr>
          <a:xfrm>
            <a:off x="6088785" y="2347000"/>
            <a:ext cx="3681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FF"/>
                </a:solidFill>
                <a:latin typeface="Arial"/>
                <a:ea typeface="Arial"/>
                <a:cs typeface="Arial"/>
                <a:sym typeface="Arial"/>
              </a:rPr>
              <a:t>cnx</a:t>
            </a:r>
            <a:endParaRPr b="0" i="0" sz="900" u="none" cap="none" strike="noStrike">
              <a:solidFill>
                <a:srgbClr val="0000FF"/>
              </a:solidFill>
              <a:latin typeface="Arial"/>
              <a:ea typeface="Arial"/>
              <a:cs typeface="Arial"/>
              <a:sym typeface="Arial"/>
            </a:endParaRPr>
          </a:p>
        </p:txBody>
      </p:sp>
      <p:sp>
        <p:nvSpPr>
          <p:cNvPr id="152" name="Google Shape;152;p26"/>
          <p:cNvSpPr txBox="1"/>
          <p:nvPr/>
        </p:nvSpPr>
        <p:spPr>
          <a:xfrm>
            <a:off x="7761071" y="2216600"/>
            <a:ext cx="3681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FF"/>
                </a:solidFill>
                <a:latin typeface="Arial"/>
                <a:ea typeface="Arial"/>
                <a:cs typeface="Arial"/>
                <a:sym typeface="Arial"/>
              </a:rPr>
              <a:t>cnx</a:t>
            </a:r>
            <a:endParaRPr b="0" i="0" sz="900" u="none" cap="none" strike="noStrike">
              <a:solidFill>
                <a:srgbClr val="0000FF"/>
              </a:solidFill>
              <a:latin typeface="Arial"/>
              <a:ea typeface="Arial"/>
              <a:cs typeface="Arial"/>
              <a:sym typeface="Arial"/>
            </a:endParaRPr>
          </a:p>
        </p:txBody>
      </p:sp>
      <p:sp>
        <p:nvSpPr>
          <p:cNvPr id="153" name="Google Shape;153;p26"/>
          <p:cNvSpPr txBox="1"/>
          <p:nvPr/>
        </p:nvSpPr>
        <p:spPr>
          <a:xfrm>
            <a:off x="7766725" y="1460989"/>
            <a:ext cx="3681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FF"/>
                </a:solidFill>
                <a:latin typeface="Arial"/>
                <a:ea typeface="Arial"/>
                <a:cs typeface="Arial"/>
                <a:sym typeface="Arial"/>
              </a:rPr>
              <a:t>cnx</a:t>
            </a:r>
            <a:endParaRPr b="0" i="0" sz="900" u="none" cap="none" strike="noStrike">
              <a:solidFill>
                <a:srgbClr val="0000FF"/>
              </a:solidFill>
              <a:latin typeface="Arial"/>
              <a:ea typeface="Arial"/>
              <a:cs typeface="Arial"/>
              <a:sym typeface="Arial"/>
            </a:endParaRPr>
          </a:p>
        </p:txBody>
      </p:sp>
      <p:cxnSp>
        <p:nvCxnSpPr>
          <p:cNvPr id="154" name="Google Shape;154;p26"/>
          <p:cNvCxnSpPr>
            <a:stCxn id="130" idx="2"/>
            <a:endCxn id="143" idx="0"/>
          </p:cNvCxnSpPr>
          <p:nvPr/>
        </p:nvCxnSpPr>
        <p:spPr>
          <a:xfrm flipH="1">
            <a:off x="6375625" y="1385775"/>
            <a:ext cx="1467300" cy="704700"/>
          </a:xfrm>
          <a:prstGeom prst="straightConnector1">
            <a:avLst/>
          </a:prstGeom>
          <a:noFill/>
          <a:ln cap="flat" cmpd="sng" w="9525">
            <a:solidFill>
              <a:srgbClr val="000000"/>
            </a:solidFill>
            <a:prstDash val="solid"/>
            <a:round/>
            <a:headEnd len="sm" w="sm" type="none"/>
            <a:tailEnd len="med" w="med" type="triangle"/>
          </a:ln>
        </p:spPr>
      </p:cxnSp>
      <p:sp>
        <p:nvSpPr>
          <p:cNvPr id="155" name="Google Shape;155;p26"/>
          <p:cNvSpPr txBox="1"/>
          <p:nvPr/>
        </p:nvSpPr>
        <p:spPr>
          <a:xfrm>
            <a:off x="6881575" y="1477113"/>
            <a:ext cx="3681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FF"/>
                </a:solidFill>
                <a:latin typeface="Arial"/>
                <a:ea typeface="Arial"/>
                <a:cs typeface="Arial"/>
                <a:sym typeface="Arial"/>
              </a:rPr>
              <a:t>cnx</a:t>
            </a:r>
            <a:endParaRPr b="0" i="0" sz="900" u="none" cap="none" strike="noStrike">
              <a:solidFill>
                <a:srgbClr val="0000FF"/>
              </a:solidFill>
              <a:latin typeface="Arial"/>
              <a:ea typeface="Arial"/>
              <a:cs typeface="Arial"/>
              <a:sym typeface="Arial"/>
            </a:endParaRPr>
          </a:p>
        </p:txBody>
      </p:sp>
      <p:sp>
        <p:nvSpPr>
          <p:cNvPr id="156" name="Google Shape;156;p26"/>
          <p:cNvSpPr txBox="1"/>
          <p:nvPr/>
        </p:nvSpPr>
        <p:spPr>
          <a:xfrm>
            <a:off x="6088775" y="2959038"/>
            <a:ext cx="3681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FF"/>
                </a:solidFill>
                <a:latin typeface="Arial"/>
                <a:ea typeface="Arial"/>
                <a:cs typeface="Arial"/>
                <a:sym typeface="Arial"/>
              </a:rPr>
              <a:t>cnx</a:t>
            </a:r>
            <a:endParaRPr b="0" i="0" sz="900" u="none" cap="none" strike="noStrike">
              <a:solidFill>
                <a:srgbClr val="0000FF"/>
              </a:solidFill>
              <a:latin typeface="Arial"/>
              <a:ea typeface="Arial"/>
              <a:cs typeface="Arial"/>
              <a:sym typeface="Arial"/>
            </a:endParaRPr>
          </a:p>
        </p:txBody>
      </p:sp>
      <p:sp>
        <p:nvSpPr>
          <p:cNvPr id="157" name="Google Shape;157;p26"/>
          <p:cNvSpPr txBox="1"/>
          <p:nvPr/>
        </p:nvSpPr>
        <p:spPr>
          <a:xfrm>
            <a:off x="7766725" y="3854288"/>
            <a:ext cx="3681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FF"/>
                </a:solidFill>
                <a:latin typeface="Arial"/>
                <a:ea typeface="Arial"/>
                <a:cs typeface="Arial"/>
                <a:sym typeface="Arial"/>
              </a:rPr>
              <a:t>cnx</a:t>
            </a:r>
            <a:endParaRPr b="0" i="0" sz="900" u="none" cap="none" strike="noStrike">
              <a:solidFill>
                <a:srgbClr val="0000FF"/>
              </a:solidFill>
              <a:latin typeface="Arial"/>
              <a:ea typeface="Arial"/>
              <a:cs typeface="Arial"/>
              <a:sym typeface="Arial"/>
            </a:endParaRPr>
          </a:p>
        </p:txBody>
      </p:sp>
      <p:sp>
        <p:nvSpPr>
          <p:cNvPr id="158" name="Google Shape;158;p26"/>
          <p:cNvSpPr txBox="1"/>
          <p:nvPr/>
        </p:nvSpPr>
        <p:spPr>
          <a:xfrm>
            <a:off x="7766725" y="3100588"/>
            <a:ext cx="3681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FF"/>
                </a:solidFill>
                <a:latin typeface="Arial"/>
                <a:ea typeface="Arial"/>
                <a:cs typeface="Arial"/>
                <a:sym typeface="Arial"/>
              </a:rPr>
              <a:t>cnx</a:t>
            </a:r>
            <a:endParaRPr b="0" i="0" sz="900" u="none" cap="none" strike="noStrike">
              <a:solidFill>
                <a:srgbClr val="0000FF"/>
              </a:solidFill>
              <a:latin typeface="Arial"/>
              <a:ea typeface="Arial"/>
              <a:cs typeface="Arial"/>
              <a:sym typeface="Arial"/>
            </a:endParaRPr>
          </a:p>
        </p:txBody>
      </p:sp>
      <p:cxnSp>
        <p:nvCxnSpPr>
          <p:cNvPr id="159" name="Google Shape;159;p26"/>
          <p:cNvCxnSpPr>
            <a:stCxn id="144" idx="4"/>
            <a:endCxn id="137" idx="0"/>
          </p:cNvCxnSpPr>
          <p:nvPr/>
        </p:nvCxnSpPr>
        <p:spPr>
          <a:xfrm>
            <a:off x="6374196" y="3435775"/>
            <a:ext cx="1468800" cy="837900"/>
          </a:xfrm>
          <a:prstGeom prst="straightConnector1">
            <a:avLst/>
          </a:prstGeom>
          <a:noFill/>
          <a:ln cap="flat" cmpd="sng" w="9525">
            <a:solidFill>
              <a:srgbClr val="000000"/>
            </a:solidFill>
            <a:prstDash val="solid"/>
            <a:round/>
            <a:headEnd len="sm" w="sm" type="none"/>
            <a:tailEnd len="med" w="med" type="triangle"/>
          </a:ln>
        </p:spPr>
      </p:cxnSp>
      <p:sp>
        <p:nvSpPr>
          <p:cNvPr id="160" name="Google Shape;160;p26"/>
          <p:cNvSpPr txBox="1"/>
          <p:nvPr/>
        </p:nvSpPr>
        <p:spPr>
          <a:xfrm>
            <a:off x="6913560" y="3838475"/>
            <a:ext cx="3681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FF"/>
                </a:solidFill>
                <a:latin typeface="Arial"/>
                <a:ea typeface="Arial"/>
                <a:cs typeface="Arial"/>
                <a:sym typeface="Arial"/>
              </a:rPr>
              <a:t>cnx</a:t>
            </a:r>
            <a:endParaRPr b="0" i="0" sz="900" u="none" cap="none" strike="noStrike">
              <a:solidFill>
                <a:srgbClr val="0000FF"/>
              </a:solidFill>
              <a:latin typeface="Arial"/>
              <a:ea typeface="Arial"/>
              <a:cs typeface="Arial"/>
              <a:sym typeface="Arial"/>
            </a:endParaRPr>
          </a:p>
        </p:txBody>
      </p:sp>
      <p:sp>
        <p:nvSpPr>
          <p:cNvPr id="161" name="Google Shape;161;p26"/>
          <p:cNvSpPr txBox="1"/>
          <p:nvPr/>
        </p:nvSpPr>
        <p:spPr>
          <a:xfrm>
            <a:off x="4176571" y="2152775"/>
            <a:ext cx="3681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FF"/>
                </a:solidFill>
                <a:latin typeface="Arial"/>
                <a:ea typeface="Arial"/>
                <a:cs typeface="Arial"/>
                <a:sym typeface="Arial"/>
              </a:rPr>
              <a:t>cnx</a:t>
            </a:r>
            <a:endParaRPr b="0" i="0" sz="900" u="none" cap="none" strike="noStrike">
              <a:solidFill>
                <a:srgbClr val="0000FF"/>
              </a:solidFill>
              <a:latin typeface="Arial"/>
              <a:ea typeface="Arial"/>
              <a:cs typeface="Arial"/>
              <a:sym typeface="Arial"/>
            </a:endParaRPr>
          </a:p>
        </p:txBody>
      </p:sp>
      <p:sp>
        <p:nvSpPr>
          <p:cNvPr id="162" name="Google Shape;162;p26"/>
          <p:cNvSpPr txBox="1"/>
          <p:nvPr/>
        </p:nvSpPr>
        <p:spPr>
          <a:xfrm>
            <a:off x="4182225" y="1397164"/>
            <a:ext cx="3681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FF"/>
                </a:solidFill>
                <a:latin typeface="Arial"/>
                <a:ea typeface="Arial"/>
                <a:cs typeface="Arial"/>
                <a:sym typeface="Arial"/>
              </a:rPr>
              <a:t>cnx</a:t>
            </a:r>
            <a:endParaRPr b="0" i="0" sz="900" u="none" cap="none" strike="noStrike">
              <a:solidFill>
                <a:srgbClr val="0000FF"/>
              </a:solidFill>
              <a:latin typeface="Arial"/>
              <a:ea typeface="Arial"/>
              <a:cs typeface="Arial"/>
              <a:sym typeface="Arial"/>
            </a:endParaRPr>
          </a:p>
        </p:txBody>
      </p:sp>
      <p:sp>
        <p:nvSpPr>
          <p:cNvPr id="163" name="Google Shape;163;p26"/>
          <p:cNvSpPr txBox="1"/>
          <p:nvPr/>
        </p:nvSpPr>
        <p:spPr>
          <a:xfrm>
            <a:off x="4182225" y="3790463"/>
            <a:ext cx="3681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FF"/>
                </a:solidFill>
                <a:latin typeface="Arial"/>
                <a:ea typeface="Arial"/>
                <a:cs typeface="Arial"/>
                <a:sym typeface="Arial"/>
              </a:rPr>
              <a:t>cnx</a:t>
            </a:r>
            <a:endParaRPr b="0" i="0" sz="900" u="none" cap="none" strike="noStrike">
              <a:solidFill>
                <a:srgbClr val="0000FF"/>
              </a:solidFill>
              <a:latin typeface="Arial"/>
              <a:ea typeface="Arial"/>
              <a:cs typeface="Arial"/>
              <a:sym typeface="Arial"/>
            </a:endParaRPr>
          </a:p>
        </p:txBody>
      </p:sp>
      <p:sp>
        <p:nvSpPr>
          <p:cNvPr id="164" name="Google Shape;164;p26"/>
          <p:cNvSpPr txBox="1"/>
          <p:nvPr/>
        </p:nvSpPr>
        <p:spPr>
          <a:xfrm>
            <a:off x="4182225" y="3036763"/>
            <a:ext cx="3681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FF"/>
                </a:solidFill>
                <a:latin typeface="Arial"/>
                <a:ea typeface="Arial"/>
                <a:cs typeface="Arial"/>
                <a:sym typeface="Arial"/>
              </a:rPr>
              <a:t>cnx</a:t>
            </a:r>
            <a:endParaRPr b="0" i="0" sz="900" u="none" cap="none" strike="noStrike">
              <a:solidFill>
                <a:srgbClr val="0000FF"/>
              </a:solidFill>
              <a:latin typeface="Arial"/>
              <a:ea typeface="Arial"/>
              <a:cs typeface="Arial"/>
              <a:sym typeface="Arial"/>
            </a:endParaRPr>
          </a:p>
        </p:txBody>
      </p:sp>
      <p:sp>
        <p:nvSpPr>
          <p:cNvPr id="165" name="Google Shape;165;p26"/>
          <p:cNvSpPr txBox="1"/>
          <p:nvPr/>
        </p:nvSpPr>
        <p:spPr>
          <a:xfrm>
            <a:off x="978971" y="2194900"/>
            <a:ext cx="3681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FF"/>
                </a:solidFill>
                <a:latin typeface="Arial"/>
                <a:ea typeface="Arial"/>
                <a:cs typeface="Arial"/>
                <a:sym typeface="Arial"/>
              </a:rPr>
              <a:t>cnx</a:t>
            </a:r>
            <a:endParaRPr b="0" i="0" sz="900" u="none" cap="none" strike="noStrike">
              <a:solidFill>
                <a:srgbClr val="0000FF"/>
              </a:solidFill>
              <a:latin typeface="Arial"/>
              <a:ea typeface="Arial"/>
              <a:cs typeface="Arial"/>
              <a:sym typeface="Arial"/>
            </a:endParaRPr>
          </a:p>
        </p:txBody>
      </p:sp>
      <p:sp>
        <p:nvSpPr>
          <p:cNvPr id="166" name="Google Shape;166;p26"/>
          <p:cNvSpPr txBox="1"/>
          <p:nvPr/>
        </p:nvSpPr>
        <p:spPr>
          <a:xfrm>
            <a:off x="984625" y="1439289"/>
            <a:ext cx="3681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FF"/>
                </a:solidFill>
                <a:latin typeface="Arial"/>
                <a:ea typeface="Arial"/>
                <a:cs typeface="Arial"/>
                <a:sym typeface="Arial"/>
              </a:rPr>
              <a:t>cnx</a:t>
            </a:r>
            <a:endParaRPr b="0" i="0" sz="900" u="none" cap="none" strike="noStrike">
              <a:solidFill>
                <a:srgbClr val="0000FF"/>
              </a:solidFill>
              <a:latin typeface="Arial"/>
              <a:ea typeface="Arial"/>
              <a:cs typeface="Arial"/>
              <a:sym typeface="Arial"/>
            </a:endParaRPr>
          </a:p>
        </p:txBody>
      </p:sp>
      <p:sp>
        <p:nvSpPr>
          <p:cNvPr id="167" name="Google Shape;167;p26"/>
          <p:cNvSpPr txBox="1"/>
          <p:nvPr/>
        </p:nvSpPr>
        <p:spPr>
          <a:xfrm>
            <a:off x="984625" y="3832588"/>
            <a:ext cx="3681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FF"/>
                </a:solidFill>
                <a:latin typeface="Arial"/>
                <a:ea typeface="Arial"/>
                <a:cs typeface="Arial"/>
                <a:sym typeface="Arial"/>
              </a:rPr>
              <a:t>cnx</a:t>
            </a:r>
            <a:endParaRPr b="0" i="0" sz="900" u="none" cap="none" strike="noStrike">
              <a:solidFill>
                <a:srgbClr val="0000FF"/>
              </a:solidFill>
              <a:latin typeface="Arial"/>
              <a:ea typeface="Arial"/>
              <a:cs typeface="Arial"/>
              <a:sym typeface="Arial"/>
            </a:endParaRPr>
          </a:p>
        </p:txBody>
      </p:sp>
      <p:sp>
        <p:nvSpPr>
          <p:cNvPr id="168" name="Google Shape;168;p26"/>
          <p:cNvSpPr txBox="1"/>
          <p:nvPr/>
        </p:nvSpPr>
        <p:spPr>
          <a:xfrm>
            <a:off x="984625" y="3078888"/>
            <a:ext cx="3681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FF"/>
                </a:solidFill>
                <a:latin typeface="Arial"/>
                <a:ea typeface="Arial"/>
                <a:cs typeface="Arial"/>
                <a:sym typeface="Arial"/>
              </a:rPr>
              <a:t>cnx</a:t>
            </a:r>
            <a:endParaRPr b="0" i="0" sz="900" u="none" cap="none" strike="noStrike">
              <a:solidFill>
                <a:srgbClr val="0000FF"/>
              </a:solidFill>
              <a:latin typeface="Arial"/>
              <a:ea typeface="Arial"/>
              <a:cs typeface="Arial"/>
              <a:sym typeface="Arial"/>
            </a:endParaRPr>
          </a:p>
        </p:txBody>
      </p:sp>
      <p:cxnSp>
        <p:nvCxnSpPr>
          <p:cNvPr id="169" name="Google Shape;169;p26"/>
          <p:cNvCxnSpPr/>
          <p:nvPr/>
        </p:nvCxnSpPr>
        <p:spPr>
          <a:xfrm flipH="1">
            <a:off x="1965075" y="1161100"/>
            <a:ext cx="5100" cy="3456900"/>
          </a:xfrm>
          <a:prstGeom prst="straightConnector1">
            <a:avLst/>
          </a:prstGeom>
          <a:noFill/>
          <a:ln cap="flat" cmpd="sng" w="9525">
            <a:solidFill>
              <a:schemeClr val="dk2"/>
            </a:solidFill>
            <a:prstDash val="solid"/>
            <a:round/>
            <a:headEnd len="sm" w="sm" type="none"/>
            <a:tailEnd len="sm" w="sm" type="none"/>
          </a:ln>
        </p:spPr>
      </p:cxnSp>
      <p:cxnSp>
        <p:nvCxnSpPr>
          <p:cNvPr id="170" name="Google Shape;170;p26"/>
          <p:cNvCxnSpPr/>
          <p:nvPr/>
        </p:nvCxnSpPr>
        <p:spPr>
          <a:xfrm flipH="1">
            <a:off x="5283125" y="1161100"/>
            <a:ext cx="5100" cy="3456900"/>
          </a:xfrm>
          <a:prstGeom prst="straightConnector1">
            <a:avLst/>
          </a:prstGeom>
          <a:noFill/>
          <a:ln cap="flat" cmpd="sng" w="9525">
            <a:solidFill>
              <a:schemeClr val="dk2"/>
            </a:solidFill>
            <a:prstDash val="solid"/>
            <a:round/>
            <a:headEnd len="sm" w="sm" type="none"/>
            <a:tailEnd len="sm" w="sm" type="none"/>
          </a:ln>
        </p:spPr>
      </p:cxnSp>
      <p:sp>
        <p:nvSpPr>
          <p:cNvPr id="171" name="Google Shape;171;p26"/>
          <p:cNvSpPr txBox="1"/>
          <p:nvPr/>
        </p:nvSpPr>
        <p:spPr>
          <a:xfrm>
            <a:off x="173775" y="4733700"/>
            <a:ext cx="1643400" cy="338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A: Top-level model </a:t>
            </a:r>
            <a:endParaRPr b="0" i="0" sz="1000" u="none" cap="none" strike="noStrike">
              <a:solidFill>
                <a:srgbClr val="000000"/>
              </a:solidFill>
              <a:latin typeface="Arial"/>
              <a:ea typeface="Arial"/>
              <a:cs typeface="Arial"/>
              <a:sym typeface="Arial"/>
            </a:endParaRPr>
          </a:p>
        </p:txBody>
      </p:sp>
      <p:sp>
        <p:nvSpPr>
          <p:cNvPr id="172" name="Google Shape;172;p26"/>
          <p:cNvSpPr txBox="1"/>
          <p:nvPr/>
        </p:nvSpPr>
        <p:spPr>
          <a:xfrm>
            <a:off x="2123425" y="4733700"/>
            <a:ext cx="3005100" cy="338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B: Modeling some contained components</a:t>
            </a:r>
            <a:endParaRPr b="0" i="0" sz="1000" u="none" cap="none" strike="noStrike">
              <a:solidFill>
                <a:srgbClr val="000000"/>
              </a:solidFill>
              <a:latin typeface="Arial"/>
              <a:ea typeface="Arial"/>
              <a:cs typeface="Arial"/>
              <a:sym typeface="Arial"/>
            </a:endParaRPr>
          </a:p>
        </p:txBody>
      </p:sp>
      <p:sp>
        <p:nvSpPr>
          <p:cNvPr id="173" name="Google Shape;173;p26"/>
          <p:cNvSpPr txBox="1"/>
          <p:nvPr/>
        </p:nvSpPr>
        <p:spPr>
          <a:xfrm>
            <a:off x="5400025" y="4733700"/>
            <a:ext cx="3591300" cy="338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C: Modeling some contained components and connections</a:t>
            </a:r>
            <a:endParaRPr b="0" i="0" sz="1000" u="none" cap="none" strike="noStrike">
              <a:solidFill>
                <a:srgbClr val="000000"/>
              </a:solidFill>
              <a:latin typeface="Arial"/>
              <a:ea typeface="Arial"/>
              <a:cs typeface="Arial"/>
              <a:sym typeface="Arial"/>
            </a:endParaRPr>
          </a:p>
        </p:txBody>
      </p:sp>
      <p:sp>
        <p:nvSpPr>
          <p:cNvPr id="174" name="Google Shape;174;p26"/>
          <p:cNvSpPr/>
          <p:nvPr/>
        </p:nvSpPr>
        <p:spPr>
          <a:xfrm>
            <a:off x="6623000" y="1449700"/>
            <a:ext cx="1698000" cy="3504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26"/>
          <p:cNvSpPr/>
          <p:nvPr/>
        </p:nvSpPr>
        <p:spPr>
          <a:xfrm>
            <a:off x="6623000" y="3831759"/>
            <a:ext cx="1698000" cy="3504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26"/>
          <p:cNvSpPr txBox="1"/>
          <p:nvPr/>
        </p:nvSpPr>
        <p:spPr>
          <a:xfrm>
            <a:off x="6828550" y="449700"/>
            <a:ext cx="2115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Achieved through duplication of connection relations at the different levels of detail, combined with “mapsTo”</a:t>
            </a:r>
            <a:endParaRPr b="0" i="0" sz="800" u="none" cap="none" strike="noStrike">
              <a:solidFill>
                <a:srgbClr val="000000"/>
              </a:solidFill>
              <a:latin typeface="Arial"/>
              <a:ea typeface="Arial"/>
              <a:cs typeface="Arial"/>
              <a:sym typeface="Arial"/>
            </a:endParaRPr>
          </a:p>
        </p:txBody>
      </p:sp>
      <p:cxnSp>
        <p:nvCxnSpPr>
          <p:cNvPr id="177" name="Google Shape;177;p26"/>
          <p:cNvCxnSpPr>
            <a:endCxn id="174" idx="1"/>
          </p:cNvCxnSpPr>
          <p:nvPr/>
        </p:nvCxnSpPr>
        <p:spPr>
          <a:xfrm flipH="1">
            <a:off x="6871666" y="953215"/>
            <a:ext cx="257700" cy="547800"/>
          </a:xfrm>
          <a:prstGeom prst="straightConnector1">
            <a:avLst/>
          </a:prstGeom>
          <a:noFill/>
          <a:ln cap="flat" cmpd="sng" w="9525">
            <a:solidFill>
              <a:srgbClr val="FF0000"/>
            </a:solidFill>
            <a:prstDash val="dash"/>
            <a:round/>
            <a:headEnd len="sm" w="sm" type="none"/>
            <a:tailEnd len="med" w="med" type="stealth"/>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Equipment Overview</a:t>
            </a:r>
            <a:endParaRPr/>
          </a:p>
        </p:txBody>
      </p:sp>
      <p:sp>
        <p:nvSpPr>
          <p:cNvPr id="183" name="Google Shape;183;p27"/>
          <p:cNvSpPr txBox="1"/>
          <p:nvPr>
            <p:ph idx="1" type="body"/>
          </p:nvPr>
        </p:nvSpPr>
        <p:spPr>
          <a:xfrm>
            <a:off x="311700" y="1076275"/>
            <a:ext cx="8520600" cy="344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Equipment can be modeled at various levels of complexity, and different modelers may choose different design patterns. We use inference and validation rules to synchronize the modeling of equipment in S223. Using these rules, we can maintain semantic interoperability and improve usability of the standard.</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This presentation uses a few examples to show this</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Inference vs. Validation</a:t>
            </a:r>
            <a:endParaRPr/>
          </a:p>
        </p:txBody>
      </p:sp>
      <p:sp>
        <p:nvSpPr>
          <p:cNvPr id="189" name="Google Shape;189;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Inference: Constructs new triples based on the rules within an ontology</a:t>
            </a:r>
            <a:endParaRPr/>
          </a:p>
          <a:p>
            <a:pPr indent="-317500" lvl="1" marL="914400" rtl="0" algn="l">
              <a:spcBef>
                <a:spcPts val="0"/>
              </a:spcBef>
              <a:spcAft>
                <a:spcPts val="0"/>
              </a:spcAft>
              <a:buSzPts val="1400"/>
              <a:buChar char="○"/>
            </a:pPr>
            <a:r>
              <a:rPr lang="en"/>
              <a:t>Inference rules within the standard are used to express existing relationships and label pieces of equipment</a:t>
            </a:r>
            <a:endParaRPr/>
          </a:p>
          <a:p>
            <a:pPr indent="-342900" lvl="0" marL="457200" rtl="0" algn="l">
              <a:spcBef>
                <a:spcPts val="0"/>
              </a:spcBef>
              <a:spcAft>
                <a:spcPts val="0"/>
              </a:spcAft>
              <a:buSzPts val="1800"/>
              <a:buChar char="●"/>
            </a:pPr>
            <a:r>
              <a:rPr lang="en"/>
              <a:t>Validation: Validates a model against an ontology to insure that models are </a:t>
            </a:r>
            <a:r>
              <a:rPr lang="en"/>
              <a:t>correct and that equivalent equipment are being modeled the same way</a:t>
            </a:r>
            <a:endParaRPr/>
          </a:p>
          <a:p>
            <a:pPr indent="-317500" lvl="1" marL="914400" rtl="0" algn="l">
              <a:spcBef>
                <a:spcPts val="0"/>
              </a:spcBef>
              <a:spcAft>
                <a:spcPts val="0"/>
              </a:spcAft>
              <a:buSzPts val="1400"/>
              <a:buChar char="○"/>
            </a:pPr>
            <a:r>
              <a:rPr lang="en"/>
              <a:t>Validation rules are used extensively in s223 to ensure interoperability while allowing flexibility</a:t>
            </a:r>
            <a:endParaRPr/>
          </a:p>
          <a:p>
            <a:pPr indent="-317500" lvl="1" marL="914400" rtl="0" algn="l">
              <a:spcBef>
                <a:spcPts val="0"/>
              </a:spcBef>
              <a:spcAft>
                <a:spcPts val="0"/>
              </a:spcAft>
              <a:buSzPts val="1400"/>
              <a:buChar char="○"/>
            </a:pPr>
            <a:r>
              <a:rPr lang="en"/>
              <a:t>Extensions can use validation rules to increase usability and facilitate modeling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Equipment Rules: Inference</a:t>
            </a:r>
            <a:endParaRPr/>
          </a:p>
        </p:txBody>
      </p:sp>
      <p:sp>
        <p:nvSpPr>
          <p:cNvPr id="195" name="Google Shape;195;p29"/>
          <p:cNvSpPr/>
          <p:nvPr/>
        </p:nvSpPr>
        <p:spPr>
          <a:xfrm>
            <a:off x="5707320" y="2275384"/>
            <a:ext cx="1530900" cy="3294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n" sz="1100"/>
              <a:t>S223: TwoWayValve</a:t>
            </a:r>
            <a:endParaRPr b="0" i="0" sz="1100" u="none" cap="none" strike="noStrike">
              <a:solidFill>
                <a:srgbClr val="000000"/>
              </a:solidFill>
              <a:latin typeface="Arial"/>
              <a:ea typeface="Arial"/>
              <a:cs typeface="Arial"/>
              <a:sym typeface="Arial"/>
            </a:endParaRPr>
          </a:p>
        </p:txBody>
      </p:sp>
      <p:sp>
        <p:nvSpPr>
          <p:cNvPr id="196" name="Google Shape;196;p29"/>
          <p:cNvSpPr txBox="1"/>
          <p:nvPr/>
        </p:nvSpPr>
        <p:spPr>
          <a:xfrm>
            <a:off x="1448225" y="3291100"/>
            <a:ext cx="211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Validation/Inference</a:t>
            </a:r>
            <a:endParaRPr/>
          </a:p>
        </p:txBody>
      </p:sp>
      <p:sp>
        <p:nvSpPr>
          <p:cNvPr id="197" name="Google Shape;197;p29"/>
          <p:cNvSpPr/>
          <p:nvPr/>
        </p:nvSpPr>
        <p:spPr>
          <a:xfrm>
            <a:off x="3624740" y="4441498"/>
            <a:ext cx="1593900" cy="3294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n" sz="1100"/>
              <a:t>S223: TwoWayValve</a:t>
            </a:r>
            <a:endParaRPr b="0" i="0" sz="1100" u="none" cap="none" strike="noStrike">
              <a:solidFill>
                <a:srgbClr val="000000"/>
              </a:solidFill>
              <a:latin typeface="Arial"/>
              <a:ea typeface="Arial"/>
              <a:cs typeface="Arial"/>
              <a:sym typeface="Arial"/>
            </a:endParaRPr>
          </a:p>
        </p:txBody>
      </p:sp>
      <p:sp>
        <p:nvSpPr>
          <p:cNvPr id="198" name="Google Shape;198;p29"/>
          <p:cNvSpPr/>
          <p:nvPr/>
        </p:nvSpPr>
        <p:spPr>
          <a:xfrm>
            <a:off x="2196311" y="4515249"/>
            <a:ext cx="1083600" cy="181800"/>
          </a:xfrm>
          <a:prstGeom prst="ellipse">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lang="en" sz="1000"/>
              <a:t>Inlet-CP</a:t>
            </a:r>
            <a:endParaRPr b="0" i="0" sz="1000" u="none" cap="none" strike="noStrike">
              <a:solidFill>
                <a:srgbClr val="000000"/>
              </a:solidFill>
              <a:latin typeface="Arial"/>
              <a:ea typeface="Arial"/>
              <a:cs typeface="Arial"/>
              <a:sym typeface="Arial"/>
            </a:endParaRPr>
          </a:p>
        </p:txBody>
      </p:sp>
      <p:sp>
        <p:nvSpPr>
          <p:cNvPr id="199" name="Google Shape;199;p29"/>
          <p:cNvSpPr/>
          <p:nvPr/>
        </p:nvSpPr>
        <p:spPr>
          <a:xfrm>
            <a:off x="5563397" y="4515249"/>
            <a:ext cx="1083600" cy="181800"/>
          </a:xfrm>
          <a:prstGeom prst="ellipse">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lang="en" sz="1000"/>
              <a:t>Outlet</a:t>
            </a:r>
            <a:r>
              <a:rPr lang="en" sz="1000"/>
              <a:t>-CP</a:t>
            </a:r>
            <a:endParaRPr b="0" i="0" sz="1000" u="none" cap="none" strike="noStrike">
              <a:solidFill>
                <a:srgbClr val="000000"/>
              </a:solidFill>
              <a:latin typeface="Arial"/>
              <a:ea typeface="Arial"/>
              <a:cs typeface="Arial"/>
              <a:sym typeface="Arial"/>
            </a:endParaRPr>
          </a:p>
        </p:txBody>
      </p:sp>
      <p:cxnSp>
        <p:nvCxnSpPr>
          <p:cNvPr id="200" name="Google Shape;200;p29"/>
          <p:cNvCxnSpPr>
            <a:stCxn id="198" idx="6"/>
            <a:endCxn id="197" idx="1"/>
          </p:cNvCxnSpPr>
          <p:nvPr/>
        </p:nvCxnSpPr>
        <p:spPr>
          <a:xfrm>
            <a:off x="3279911" y="4606149"/>
            <a:ext cx="344700" cy="0"/>
          </a:xfrm>
          <a:prstGeom prst="straightConnector1">
            <a:avLst/>
          </a:prstGeom>
          <a:noFill/>
          <a:ln cap="flat" cmpd="sng" w="9525">
            <a:solidFill>
              <a:srgbClr val="000000"/>
            </a:solidFill>
            <a:prstDash val="solid"/>
            <a:round/>
            <a:headEnd len="sm" w="sm" type="none"/>
            <a:tailEnd len="med" w="med" type="triangle"/>
          </a:ln>
        </p:spPr>
      </p:cxnSp>
      <p:sp>
        <p:nvSpPr>
          <p:cNvPr id="201" name="Google Shape;201;p29"/>
          <p:cNvSpPr txBox="1"/>
          <p:nvPr/>
        </p:nvSpPr>
        <p:spPr>
          <a:xfrm>
            <a:off x="3244443" y="4318924"/>
            <a:ext cx="4209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1100" u="none" cap="none" strike="noStrike">
                <a:solidFill>
                  <a:srgbClr val="0000FF"/>
                </a:solidFill>
                <a:latin typeface="Arial"/>
                <a:ea typeface="Arial"/>
                <a:cs typeface="Arial"/>
                <a:sym typeface="Arial"/>
              </a:rPr>
              <a:t>cnx</a:t>
            </a:r>
            <a:endParaRPr b="0" i="0" sz="1100" u="none" cap="none" strike="noStrike">
              <a:solidFill>
                <a:srgbClr val="0000FF"/>
              </a:solidFill>
              <a:latin typeface="Arial"/>
              <a:ea typeface="Arial"/>
              <a:cs typeface="Arial"/>
              <a:sym typeface="Arial"/>
            </a:endParaRPr>
          </a:p>
        </p:txBody>
      </p:sp>
      <p:cxnSp>
        <p:nvCxnSpPr>
          <p:cNvPr id="202" name="Google Shape;202;p29"/>
          <p:cNvCxnSpPr>
            <a:stCxn id="197" idx="3"/>
            <a:endCxn id="199" idx="2"/>
          </p:cNvCxnSpPr>
          <p:nvPr/>
        </p:nvCxnSpPr>
        <p:spPr>
          <a:xfrm>
            <a:off x="5218640" y="4606198"/>
            <a:ext cx="344700" cy="0"/>
          </a:xfrm>
          <a:prstGeom prst="straightConnector1">
            <a:avLst/>
          </a:prstGeom>
          <a:noFill/>
          <a:ln cap="flat" cmpd="sng" w="9525">
            <a:solidFill>
              <a:srgbClr val="000000"/>
            </a:solidFill>
            <a:prstDash val="solid"/>
            <a:round/>
            <a:headEnd len="sm" w="sm" type="none"/>
            <a:tailEnd len="med" w="med" type="triangle"/>
          </a:ln>
        </p:spPr>
      </p:cxnSp>
      <p:sp>
        <p:nvSpPr>
          <p:cNvPr id="203" name="Google Shape;203;p29"/>
          <p:cNvSpPr txBox="1"/>
          <p:nvPr/>
        </p:nvSpPr>
        <p:spPr>
          <a:xfrm>
            <a:off x="5177824" y="4303418"/>
            <a:ext cx="4209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1100" u="none" cap="none" strike="noStrike">
                <a:solidFill>
                  <a:srgbClr val="0000FF"/>
                </a:solidFill>
                <a:latin typeface="Arial"/>
                <a:ea typeface="Arial"/>
                <a:cs typeface="Arial"/>
                <a:sym typeface="Arial"/>
              </a:rPr>
              <a:t>cnx</a:t>
            </a:r>
            <a:endParaRPr b="0" i="0" sz="1100" u="none" cap="none" strike="noStrike">
              <a:solidFill>
                <a:srgbClr val="0000FF"/>
              </a:solidFill>
              <a:latin typeface="Arial"/>
              <a:ea typeface="Arial"/>
              <a:cs typeface="Arial"/>
              <a:sym typeface="Arial"/>
            </a:endParaRPr>
          </a:p>
        </p:txBody>
      </p:sp>
      <p:sp>
        <p:nvSpPr>
          <p:cNvPr id="204" name="Google Shape;204;p29"/>
          <p:cNvSpPr/>
          <p:nvPr/>
        </p:nvSpPr>
        <p:spPr>
          <a:xfrm>
            <a:off x="2159980" y="2498849"/>
            <a:ext cx="690900" cy="3294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n" sz="1100"/>
              <a:t>S223: Valve</a:t>
            </a:r>
            <a:endParaRPr b="0" i="0" sz="1100" u="none" cap="none" strike="noStrike">
              <a:solidFill>
                <a:srgbClr val="000000"/>
              </a:solidFill>
              <a:latin typeface="Arial"/>
              <a:ea typeface="Arial"/>
              <a:cs typeface="Arial"/>
              <a:sym typeface="Arial"/>
            </a:endParaRPr>
          </a:p>
        </p:txBody>
      </p:sp>
      <p:sp>
        <p:nvSpPr>
          <p:cNvPr id="205" name="Google Shape;205;p29"/>
          <p:cNvSpPr/>
          <p:nvPr/>
        </p:nvSpPr>
        <p:spPr>
          <a:xfrm>
            <a:off x="731550" y="2572600"/>
            <a:ext cx="1083600" cy="181800"/>
          </a:xfrm>
          <a:prstGeom prst="ellipse">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lang="en" sz="1000"/>
              <a:t>Inlet-CP</a:t>
            </a:r>
            <a:endParaRPr b="0" i="0" sz="1000" u="none" cap="none" strike="noStrike">
              <a:solidFill>
                <a:srgbClr val="000000"/>
              </a:solidFill>
              <a:latin typeface="Arial"/>
              <a:ea typeface="Arial"/>
              <a:cs typeface="Arial"/>
              <a:sym typeface="Arial"/>
            </a:endParaRPr>
          </a:p>
        </p:txBody>
      </p:sp>
      <p:sp>
        <p:nvSpPr>
          <p:cNvPr id="206" name="Google Shape;206;p29"/>
          <p:cNvSpPr/>
          <p:nvPr/>
        </p:nvSpPr>
        <p:spPr>
          <a:xfrm>
            <a:off x="3191385" y="2568993"/>
            <a:ext cx="1083600" cy="181800"/>
          </a:xfrm>
          <a:prstGeom prst="ellipse">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lang="en" sz="1000"/>
              <a:t>Outlet-CP</a:t>
            </a:r>
            <a:endParaRPr b="0" i="0" sz="1000" u="none" cap="none" strike="noStrike">
              <a:solidFill>
                <a:srgbClr val="000000"/>
              </a:solidFill>
              <a:latin typeface="Arial"/>
              <a:ea typeface="Arial"/>
              <a:cs typeface="Arial"/>
              <a:sym typeface="Arial"/>
            </a:endParaRPr>
          </a:p>
        </p:txBody>
      </p:sp>
      <p:cxnSp>
        <p:nvCxnSpPr>
          <p:cNvPr id="207" name="Google Shape;207;p29"/>
          <p:cNvCxnSpPr>
            <a:stCxn id="205" idx="6"/>
            <a:endCxn id="204" idx="1"/>
          </p:cNvCxnSpPr>
          <p:nvPr/>
        </p:nvCxnSpPr>
        <p:spPr>
          <a:xfrm>
            <a:off x="1815150" y="2663500"/>
            <a:ext cx="344700" cy="0"/>
          </a:xfrm>
          <a:prstGeom prst="straightConnector1">
            <a:avLst/>
          </a:prstGeom>
          <a:noFill/>
          <a:ln cap="flat" cmpd="sng" w="9525">
            <a:solidFill>
              <a:srgbClr val="000000"/>
            </a:solidFill>
            <a:prstDash val="solid"/>
            <a:round/>
            <a:headEnd len="sm" w="sm" type="none"/>
            <a:tailEnd len="med" w="med" type="triangle"/>
          </a:ln>
        </p:spPr>
      </p:cxnSp>
      <p:sp>
        <p:nvSpPr>
          <p:cNvPr id="208" name="Google Shape;208;p29"/>
          <p:cNvSpPr txBox="1"/>
          <p:nvPr/>
        </p:nvSpPr>
        <p:spPr>
          <a:xfrm>
            <a:off x="1779683" y="2376275"/>
            <a:ext cx="4209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1100" u="none" cap="none" strike="noStrike">
                <a:solidFill>
                  <a:srgbClr val="0000FF"/>
                </a:solidFill>
                <a:latin typeface="Arial"/>
                <a:ea typeface="Arial"/>
                <a:cs typeface="Arial"/>
                <a:sym typeface="Arial"/>
              </a:rPr>
              <a:t>cnx</a:t>
            </a:r>
            <a:endParaRPr b="0" i="0" sz="1100" u="none" cap="none" strike="noStrike">
              <a:solidFill>
                <a:srgbClr val="0000FF"/>
              </a:solidFill>
              <a:latin typeface="Arial"/>
              <a:ea typeface="Arial"/>
              <a:cs typeface="Arial"/>
              <a:sym typeface="Arial"/>
            </a:endParaRPr>
          </a:p>
        </p:txBody>
      </p:sp>
      <p:cxnSp>
        <p:nvCxnSpPr>
          <p:cNvPr id="209" name="Google Shape;209;p29"/>
          <p:cNvCxnSpPr>
            <a:stCxn id="204" idx="3"/>
            <a:endCxn id="206" idx="2"/>
          </p:cNvCxnSpPr>
          <p:nvPr/>
        </p:nvCxnSpPr>
        <p:spPr>
          <a:xfrm flipH="1" rot="10800000">
            <a:off x="2850880" y="2659949"/>
            <a:ext cx="340500" cy="3600"/>
          </a:xfrm>
          <a:prstGeom prst="straightConnector1">
            <a:avLst/>
          </a:prstGeom>
          <a:noFill/>
          <a:ln cap="flat" cmpd="sng" w="9525">
            <a:solidFill>
              <a:srgbClr val="000000"/>
            </a:solidFill>
            <a:prstDash val="solid"/>
            <a:round/>
            <a:headEnd len="sm" w="sm" type="none"/>
            <a:tailEnd len="med" w="med" type="triangle"/>
          </a:ln>
        </p:spPr>
      </p:cxnSp>
      <p:sp>
        <p:nvSpPr>
          <p:cNvPr id="210" name="Google Shape;210;p29"/>
          <p:cNvSpPr txBox="1"/>
          <p:nvPr/>
        </p:nvSpPr>
        <p:spPr>
          <a:xfrm>
            <a:off x="2805812" y="2357161"/>
            <a:ext cx="4209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1100" u="none" cap="none" strike="noStrike">
                <a:solidFill>
                  <a:srgbClr val="0000FF"/>
                </a:solidFill>
                <a:latin typeface="Arial"/>
                <a:ea typeface="Arial"/>
                <a:cs typeface="Arial"/>
                <a:sym typeface="Arial"/>
              </a:rPr>
              <a:t>cnx</a:t>
            </a:r>
            <a:endParaRPr b="0" i="0" sz="1100" u="none" cap="none" strike="noStrike">
              <a:solidFill>
                <a:srgbClr val="0000FF"/>
              </a:solidFill>
              <a:latin typeface="Arial"/>
              <a:ea typeface="Arial"/>
              <a:cs typeface="Arial"/>
              <a:sym typeface="Arial"/>
            </a:endParaRPr>
          </a:p>
        </p:txBody>
      </p:sp>
      <p:cxnSp>
        <p:nvCxnSpPr>
          <p:cNvPr id="211" name="Google Shape;211;p29"/>
          <p:cNvCxnSpPr/>
          <p:nvPr/>
        </p:nvCxnSpPr>
        <p:spPr>
          <a:xfrm>
            <a:off x="2744000" y="2993450"/>
            <a:ext cx="1702800" cy="1240800"/>
          </a:xfrm>
          <a:prstGeom prst="straightConnector1">
            <a:avLst/>
          </a:prstGeom>
          <a:noFill/>
          <a:ln cap="flat" cmpd="sng" w="9525">
            <a:solidFill>
              <a:schemeClr val="dk2"/>
            </a:solidFill>
            <a:prstDash val="dash"/>
            <a:round/>
            <a:headEnd len="med" w="med" type="none"/>
            <a:tailEnd len="med" w="med" type="triangle"/>
          </a:ln>
        </p:spPr>
      </p:cxnSp>
      <p:sp>
        <p:nvSpPr>
          <p:cNvPr id="212" name="Google Shape;212;p29"/>
          <p:cNvSpPr txBox="1"/>
          <p:nvPr/>
        </p:nvSpPr>
        <p:spPr>
          <a:xfrm>
            <a:off x="876275" y="1153925"/>
            <a:ext cx="2776800" cy="10314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s223:Valve</a:t>
            </a:r>
            <a:endParaRPr/>
          </a:p>
          <a:p>
            <a:pPr indent="0" lvl="0" marL="0" rtl="0" algn="l">
              <a:spcBef>
                <a:spcPts val="0"/>
              </a:spcBef>
              <a:spcAft>
                <a:spcPts val="0"/>
              </a:spcAft>
              <a:buNone/>
            </a:pPr>
            <a:r>
              <a:t/>
            </a:r>
            <a:endParaRPr sz="500"/>
          </a:p>
          <a:p>
            <a:pPr indent="0" lvl="0" marL="0" rtl="0" algn="l">
              <a:spcBef>
                <a:spcPts val="0"/>
              </a:spcBef>
              <a:spcAft>
                <a:spcPts val="0"/>
              </a:spcAft>
              <a:buNone/>
            </a:pPr>
            <a:r>
              <a:rPr lang="en" sz="1200"/>
              <a:t>Rules:</a:t>
            </a:r>
            <a:endParaRPr sz="1200"/>
          </a:p>
          <a:p>
            <a:pPr indent="-304800" lvl="0" marL="457200" rtl="0" algn="l">
              <a:spcBef>
                <a:spcPts val="0"/>
              </a:spcBef>
              <a:spcAft>
                <a:spcPts val="0"/>
              </a:spcAft>
              <a:buSzPts val="1200"/>
              <a:buChar char="●"/>
            </a:pPr>
            <a:r>
              <a:rPr lang="en" sz="1200"/>
              <a:t>A Valve with an Inlet and an Outlet is also a TwoWayValve</a:t>
            </a:r>
            <a:endParaRPr sz="1200"/>
          </a:p>
        </p:txBody>
      </p:sp>
      <p:sp>
        <p:nvSpPr>
          <p:cNvPr id="213" name="Google Shape;213;p29"/>
          <p:cNvSpPr txBox="1"/>
          <p:nvPr/>
        </p:nvSpPr>
        <p:spPr>
          <a:xfrm>
            <a:off x="5598725" y="1077875"/>
            <a:ext cx="2776800" cy="10314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s223:TwoWayValve</a:t>
            </a:r>
            <a:endParaRPr/>
          </a:p>
          <a:p>
            <a:pPr indent="0" lvl="0" marL="0" rtl="0" algn="l">
              <a:spcBef>
                <a:spcPts val="0"/>
              </a:spcBef>
              <a:spcAft>
                <a:spcPts val="0"/>
              </a:spcAft>
              <a:buNone/>
            </a:pPr>
            <a:r>
              <a:t/>
            </a:r>
            <a:endParaRPr sz="500"/>
          </a:p>
          <a:p>
            <a:pPr indent="0" lvl="0" marL="0" rtl="0" algn="l">
              <a:spcBef>
                <a:spcPts val="0"/>
              </a:spcBef>
              <a:spcAft>
                <a:spcPts val="0"/>
              </a:spcAft>
              <a:buNone/>
            </a:pPr>
            <a:r>
              <a:rPr lang="en" sz="1200"/>
              <a:t>Rules:</a:t>
            </a:r>
            <a:endParaRPr sz="1200"/>
          </a:p>
          <a:p>
            <a:pPr indent="-304800" lvl="0" marL="457200" rtl="0" algn="l">
              <a:spcBef>
                <a:spcPts val="0"/>
              </a:spcBef>
              <a:spcAft>
                <a:spcPts val="0"/>
              </a:spcAft>
              <a:buSzPts val="1200"/>
              <a:buChar char="●"/>
            </a:pPr>
            <a:r>
              <a:rPr lang="en" sz="1200"/>
              <a:t>A TwoWayValve must have an inlet and an outlet</a:t>
            </a:r>
            <a:endParaRPr sz="1200"/>
          </a:p>
        </p:txBody>
      </p:sp>
      <p:sp>
        <p:nvSpPr>
          <p:cNvPr id="214" name="Google Shape;214;p29"/>
          <p:cNvSpPr txBox="1"/>
          <p:nvPr/>
        </p:nvSpPr>
        <p:spPr>
          <a:xfrm>
            <a:off x="6461675" y="2604775"/>
            <a:ext cx="105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Validation</a:t>
            </a:r>
            <a:endParaRPr/>
          </a:p>
        </p:txBody>
      </p:sp>
      <p:sp>
        <p:nvSpPr>
          <p:cNvPr id="215" name="Google Shape;215;p29"/>
          <p:cNvSpPr txBox="1"/>
          <p:nvPr/>
        </p:nvSpPr>
        <p:spPr>
          <a:xfrm>
            <a:off x="5406425" y="2917100"/>
            <a:ext cx="21327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latin typeface="Courier New"/>
                <a:ea typeface="Courier New"/>
                <a:cs typeface="Courier New"/>
                <a:sym typeface="Courier New"/>
              </a:rPr>
              <a:t>Validation Error:</a:t>
            </a:r>
            <a:r>
              <a:rPr lang="en" sz="1100">
                <a:latin typeface="Courier New"/>
                <a:ea typeface="Courier New"/>
                <a:cs typeface="Courier New"/>
                <a:sym typeface="Courier New"/>
              </a:rPr>
              <a:t> A Two Way Valve must have 1 Inlet and 1 Outlets.</a:t>
            </a:r>
            <a:endParaRPr sz="1100">
              <a:latin typeface="Courier New"/>
              <a:ea typeface="Courier New"/>
              <a:cs typeface="Courier New"/>
              <a:sym typeface="Courier New"/>
            </a:endParaRPr>
          </a:p>
        </p:txBody>
      </p:sp>
      <p:cxnSp>
        <p:nvCxnSpPr>
          <p:cNvPr id="216" name="Google Shape;216;p29"/>
          <p:cNvCxnSpPr/>
          <p:nvPr/>
        </p:nvCxnSpPr>
        <p:spPr>
          <a:xfrm flipH="1">
            <a:off x="4600975" y="3646375"/>
            <a:ext cx="1331400" cy="588000"/>
          </a:xfrm>
          <a:prstGeom prst="straightConnector1">
            <a:avLst/>
          </a:prstGeom>
          <a:noFill/>
          <a:ln cap="flat" cmpd="sng" w="9525">
            <a:solidFill>
              <a:schemeClr val="dk2"/>
            </a:solidFill>
            <a:prstDash val="dash"/>
            <a:round/>
            <a:headEnd len="med" w="med" type="none"/>
            <a:tailEnd len="med" w="med" type="triangle"/>
          </a:ln>
        </p:spPr>
      </p:cxnSp>
      <p:sp>
        <p:nvSpPr>
          <p:cNvPr id="217" name="Google Shape;217;p29"/>
          <p:cNvSpPr txBox="1"/>
          <p:nvPr/>
        </p:nvSpPr>
        <p:spPr>
          <a:xfrm>
            <a:off x="5218650" y="3862425"/>
            <a:ext cx="1751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Modeling/Inference</a:t>
            </a:r>
            <a:endParaRPr/>
          </a:p>
        </p:txBody>
      </p:sp>
      <p:cxnSp>
        <p:nvCxnSpPr>
          <p:cNvPr id="218" name="Google Shape;218;p29"/>
          <p:cNvCxnSpPr/>
          <p:nvPr/>
        </p:nvCxnSpPr>
        <p:spPr>
          <a:xfrm>
            <a:off x="6472775" y="2671675"/>
            <a:ext cx="0" cy="364500"/>
          </a:xfrm>
          <a:prstGeom prst="straightConnector1">
            <a:avLst/>
          </a:prstGeom>
          <a:noFill/>
          <a:ln cap="flat" cmpd="sng" w="9525">
            <a:solidFill>
              <a:schemeClr val="dk2"/>
            </a:solidFill>
            <a:prstDash val="dash"/>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Equipment Rules: Validation</a:t>
            </a:r>
            <a:endParaRPr/>
          </a:p>
        </p:txBody>
      </p:sp>
      <p:sp>
        <p:nvSpPr>
          <p:cNvPr id="224" name="Google Shape;224;p30"/>
          <p:cNvSpPr txBox="1"/>
          <p:nvPr/>
        </p:nvSpPr>
        <p:spPr>
          <a:xfrm>
            <a:off x="1418125" y="1159163"/>
            <a:ext cx="126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s223:Valve</a:t>
            </a:r>
            <a:endParaRPr/>
          </a:p>
        </p:txBody>
      </p:sp>
      <p:sp>
        <p:nvSpPr>
          <p:cNvPr id="225" name="Google Shape;225;p30"/>
          <p:cNvSpPr txBox="1"/>
          <p:nvPr/>
        </p:nvSpPr>
        <p:spPr>
          <a:xfrm>
            <a:off x="5452350" y="1070213"/>
            <a:ext cx="188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s223:ThreeWayValve</a:t>
            </a:r>
            <a:endParaRPr/>
          </a:p>
        </p:txBody>
      </p:sp>
      <p:sp>
        <p:nvSpPr>
          <p:cNvPr id="226" name="Google Shape;226;p30"/>
          <p:cNvSpPr/>
          <p:nvPr/>
        </p:nvSpPr>
        <p:spPr>
          <a:xfrm>
            <a:off x="5345475" y="1641200"/>
            <a:ext cx="1338300" cy="2967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n" sz="900"/>
              <a:t>S223: ThreeWayValve</a:t>
            </a:r>
            <a:endParaRPr b="0" i="0" sz="900" u="none" cap="none" strike="noStrike">
              <a:solidFill>
                <a:srgbClr val="000000"/>
              </a:solidFill>
              <a:latin typeface="Arial"/>
              <a:ea typeface="Arial"/>
              <a:cs typeface="Arial"/>
              <a:sym typeface="Arial"/>
            </a:endParaRPr>
          </a:p>
        </p:txBody>
      </p:sp>
      <p:sp>
        <p:nvSpPr>
          <p:cNvPr id="227" name="Google Shape;227;p30"/>
          <p:cNvSpPr txBox="1"/>
          <p:nvPr/>
        </p:nvSpPr>
        <p:spPr>
          <a:xfrm>
            <a:off x="6014625" y="1931300"/>
            <a:ext cx="105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Validation</a:t>
            </a:r>
            <a:endParaRPr/>
          </a:p>
        </p:txBody>
      </p:sp>
      <p:sp>
        <p:nvSpPr>
          <p:cNvPr id="228" name="Google Shape;228;p30"/>
          <p:cNvSpPr/>
          <p:nvPr/>
        </p:nvSpPr>
        <p:spPr>
          <a:xfrm>
            <a:off x="1750075" y="1811250"/>
            <a:ext cx="604200" cy="2967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n" sz="900"/>
              <a:t>S223: Valve</a:t>
            </a:r>
            <a:endParaRPr b="0" i="0" sz="900" u="none" cap="none" strike="noStrike">
              <a:solidFill>
                <a:srgbClr val="000000"/>
              </a:solidFill>
              <a:latin typeface="Arial"/>
              <a:ea typeface="Arial"/>
              <a:cs typeface="Arial"/>
              <a:sym typeface="Arial"/>
            </a:endParaRPr>
          </a:p>
        </p:txBody>
      </p:sp>
      <p:sp>
        <p:nvSpPr>
          <p:cNvPr id="229" name="Google Shape;229;p30"/>
          <p:cNvSpPr/>
          <p:nvPr/>
        </p:nvSpPr>
        <p:spPr>
          <a:xfrm>
            <a:off x="501175" y="1877700"/>
            <a:ext cx="947400" cy="163800"/>
          </a:xfrm>
          <a:prstGeom prst="ellipse">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lang="en" sz="800"/>
              <a:t>Inlet-CP</a:t>
            </a:r>
            <a:endParaRPr b="0" i="0" sz="800" u="none" cap="none" strike="noStrike">
              <a:solidFill>
                <a:srgbClr val="000000"/>
              </a:solidFill>
              <a:latin typeface="Arial"/>
              <a:ea typeface="Arial"/>
              <a:cs typeface="Arial"/>
              <a:sym typeface="Arial"/>
            </a:endParaRPr>
          </a:p>
        </p:txBody>
      </p:sp>
      <p:sp>
        <p:nvSpPr>
          <p:cNvPr id="230" name="Google Shape;230;p30"/>
          <p:cNvSpPr/>
          <p:nvPr/>
        </p:nvSpPr>
        <p:spPr>
          <a:xfrm>
            <a:off x="2651850" y="1874450"/>
            <a:ext cx="947400" cy="163800"/>
          </a:xfrm>
          <a:prstGeom prst="ellipse">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lang="en" sz="800"/>
              <a:t>Outlet-CP</a:t>
            </a:r>
            <a:endParaRPr b="0" i="0" sz="800" u="none" cap="none" strike="noStrike">
              <a:solidFill>
                <a:srgbClr val="000000"/>
              </a:solidFill>
              <a:latin typeface="Arial"/>
              <a:ea typeface="Arial"/>
              <a:cs typeface="Arial"/>
              <a:sym typeface="Arial"/>
            </a:endParaRPr>
          </a:p>
        </p:txBody>
      </p:sp>
      <p:cxnSp>
        <p:nvCxnSpPr>
          <p:cNvPr id="231" name="Google Shape;231;p30"/>
          <p:cNvCxnSpPr>
            <a:stCxn id="229" idx="6"/>
            <a:endCxn id="228" idx="1"/>
          </p:cNvCxnSpPr>
          <p:nvPr/>
        </p:nvCxnSpPr>
        <p:spPr>
          <a:xfrm>
            <a:off x="1448575" y="1959600"/>
            <a:ext cx="301500" cy="0"/>
          </a:xfrm>
          <a:prstGeom prst="straightConnector1">
            <a:avLst/>
          </a:prstGeom>
          <a:noFill/>
          <a:ln cap="flat" cmpd="sng" w="9525">
            <a:solidFill>
              <a:srgbClr val="000000"/>
            </a:solidFill>
            <a:prstDash val="solid"/>
            <a:round/>
            <a:headEnd len="sm" w="sm" type="none"/>
            <a:tailEnd len="med" w="med" type="triangle"/>
          </a:ln>
        </p:spPr>
      </p:cxnSp>
      <p:sp>
        <p:nvSpPr>
          <p:cNvPr id="232" name="Google Shape;232;p30"/>
          <p:cNvSpPr txBox="1"/>
          <p:nvPr/>
        </p:nvSpPr>
        <p:spPr>
          <a:xfrm>
            <a:off x="1417575" y="1700810"/>
            <a:ext cx="3681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FF"/>
                </a:solidFill>
                <a:latin typeface="Arial"/>
                <a:ea typeface="Arial"/>
                <a:cs typeface="Arial"/>
                <a:sym typeface="Arial"/>
              </a:rPr>
              <a:t>cnx</a:t>
            </a:r>
            <a:endParaRPr b="0" i="0" sz="900" u="none" cap="none" strike="noStrike">
              <a:solidFill>
                <a:srgbClr val="0000FF"/>
              </a:solidFill>
              <a:latin typeface="Arial"/>
              <a:ea typeface="Arial"/>
              <a:cs typeface="Arial"/>
              <a:sym typeface="Arial"/>
            </a:endParaRPr>
          </a:p>
        </p:txBody>
      </p:sp>
      <p:cxnSp>
        <p:nvCxnSpPr>
          <p:cNvPr id="233" name="Google Shape;233;p30"/>
          <p:cNvCxnSpPr>
            <a:stCxn id="228" idx="3"/>
            <a:endCxn id="230" idx="2"/>
          </p:cNvCxnSpPr>
          <p:nvPr/>
        </p:nvCxnSpPr>
        <p:spPr>
          <a:xfrm flipH="1" rot="10800000">
            <a:off x="2354275" y="1956300"/>
            <a:ext cx="297600" cy="3300"/>
          </a:xfrm>
          <a:prstGeom prst="straightConnector1">
            <a:avLst/>
          </a:prstGeom>
          <a:noFill/>
          <a:ln cap="flat" cmpd="sng" w="9525">
            <a:solidFill>
              <a:srgbClr val="000000"/>
            </a:solidFill>
            <a:prstDash val="solid"/>
            <a:round/>
            <a:headEnd len="sm" w="sm" type="none"/>
            <a:tailEnd len="med" w="med" type="triangle"/>
          </a:ln>
        </p:spPr>
      </p:cxnSp>
      <p:sp>
        <p:nvSpPr>
          <p:cNvPr id="234" name="Google Shape;234;p30"/>
          <p:cNvSpPr txBox="1"/>
          <p:nvPr/>
        </p:nvSpPr>
        <p:spPr>
          <a:xfrm>
            <a:off x="2314738" y="1531189"/>
            <a:ext cx="3681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FF"/>
                </a:solidFill>
                <a:latin typeface="Arial"/>
                <a:ea typeface="Arial"/>
                <a:cs typeface="Arial"/>
                <a:sym typeface="Arial"/>
              </a:rPr>
              <a:t>cnx</a:t>
            </a:r>
            <a:endParaRPr b="0" i="0" sz="900" u="none" cap="none" strike="noStrike">
              <a:solidFill>
                <a:srgbClr val="0000FF"/>
              </a:solidFill>
              <a:latin typeface="Arial"/>
              <a:ea typeface="Arial"/>
              <a:cs typeface="Arial"/>
              <a:sym typeface="Arial"/>
            </a:endParaRPr>
          </a:p>
        </p:txBody>
      </p:sp>
      <p:sp>
        <p:nvSpPr>
          <p:cNvPr id="235" name="Google Shape;235;p30"/>
          <p:cNvSpPr/>
          <p:nvPr/>
        </p:nvSpPr>
        <p:spPr>
          <a:xfrm>
            <a:off x="2675167" y="2298663"/>
            <a:ext cx="947400" cy="163800"/>
          </a:xfrm>
          <a:prstGeom prst="ellipse">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lang="en" sz="800"/>
              <a:t>Outlet-CP</a:t>
            </a:r>
            <a:endParaRPr b="0" i="0" sz="800" u="none" cap="none" strike="noStrike">
              <a:solidFill>
                <a:srgbClr val="000000"/>
              </a:solidFill>
              <a:latin typeface="Arial"/>
              <a:ea typeface="Arial"/>
              <a:cs typeface="Arial"/>
              <a:sym typeface="Arial"/>
            </a:endParaRPr>
          </a:p>
        </p:txBody>
      </p:sp>
      <p:cxnSp>
        <p:nvCxnSpPr>
          <p:cNvPr id="236" name="Google Shape;236;p30"/>
          <p:cNvCxnSpPr>
            <a:stCxn id="228" idx="3"/>
            <a:endCxn id="235" idx="2"/>
          </p:cNvCxnSpPr>
          <p:nvPr/>
        </p:nvCxnSpPr>
        <p:spPr>
          <a:xfrm>
            <a:off x="2354275" y="1959600"/>
            <a:ext cx="321000" cy="420900"/>
          </a:xfrm>
          <a:prstGeom prst="straightConnector1">
            <a:avLst/>
          </a:prstGeom>
          <a:noFill/>
          <a:ln cap="flat" cmpd="sng" w="9525">
            <a:solidFill>
              <a:srgbClr val="000000"/>
            </a:solidFill>
            <a:prstDash val="solid"/>
            <a:round/>
            <a:headEnd len="sm" w="sm" type="none"/>
            <a:tailEnd len="med" w="med" type="triangle"/>
          </a:ln>
        </p:spPr>
      </p:cxnSp>
      <p:sp>
        <p:nvSpPr>
          <p:cNvPr id="237" name="Google Shape;237;p30"/>
          <p:cNvSpPr txBox="1"/>
          <p:nvPr/>
        </p:nvSpPr>
        <p:spPr>
          <a:xfrm>
            <a:off x="4948275" y="2477175"/>
            <a:ext cx="21327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latin typeface="Courier New"/>
                <a:ea typeface="Courier New"/>
                <a:cs typeface="Courier New"/>
                <a:sym typeface="Courier New"/>
              </a:rPr>
              <a:t>Validation Error:</a:t>
            </a:r>
            <a:r>
              <a:rPr lang="en" sz="1100">
                <a:latin typeface="Courier New"/>
                <a:ea typeface="Courier New"/>
                <a:cs typeface="Courier New"/>
                <a:sym typeface="Courier New"/>
              </a:rPr>
              <a:t> A Three Way Valve must have 1 Inlet and Two Outlets, or vice versa.</a:t>
            </a:r>
            <a:endParaRPr sz="1100">
              <a:latin typeface="Courier New"/>
              <a:ea typeface="Courier New"/>
              <a:cs typeface="Courier New"/>
              <a:sym typeface="Courier New"/>
            </a:endParaRPr>
          </a:p>
        </p:txBody>
      </p:sp>
      <p:sp>
        <p:nvSpPr>
          <p:cNvPr id="238" name="Google Shape;238;p30"/>
          <p:cNvSpPr/>
          <p:nvPr/>
        </p:nvSpPr>
        <p:spPr>
          <a:xfrm>
            <a:off x="3563625" y="4299600"/>
            <a:ext cx="985500" cy="2967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n" sz="900"/>
              <a:t>S223: ThreeWayValve</a:t>
            </a:r>
            <a:endParaRPr b="0" i="0" sz="900" u="none" cap="none" strike="noStrike">
              <a:solidFill>
                <a:srgbClr val="000000"/>
              </a:solidFill>
              <a:latin typeface="Arial"/>
              <a:ea typeface="Arial"/>
              <a:cs typeface="Arial"/>
              <a:sym typeface="Arial"/>
            </a:endParaRPr>
          </a:p>
        </p:txBody>
      </p:sp>
      <p:sp>
        <p:nvSpPr>
          <p:cNvPr id="239" name="Google Shape;239;p30"/>
          <p:cNvSpPr/>
          <p:nvPr/>
        </p:nvSpPr>
        <p:spPr>
          <a:xfrm>
            <a:off x="2314750" y="4363808"/>
            <a:ext cx="947400" cy="163800"/>
          </a:xfrm>
          <a:prstGeom prst="ellipse">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lang="en" sz="800"/>
              <a:t>Inlet-CP</a:t>
            </a:r>
            <a:endParaRPr b="0" i="0" sz="800" u="none" cap="none" strike="noStrike">
              <a:solidFill>
                <a:srgbClr val="000000"/>
              </a:solidFill>
              <a:latin typeface="Arial"/>
              <a:ea typeface="Arial"/>
              <a:cs typeface="Arial"/>
              <a:sym typeface="Arial"/>
            </a:endParaRPr>
          </a:p>
        </p:txBody>
      </p:sp>
      <p:sp>
        <p:nvSpPr>
          <p:cNvPr id="240" name="Google Shape;240;p30"/>
          <p:cNvSpPr/>
          <p:nvPr/>
        </p:nvSpPr>
        <p:spPr>
          <a:xfrm>
            <a:off x="4846700" y="4362800"/>
            <a:ext cx="947400" cy="163800"/>
          </a:xfrm>
          <a:prstGeom prst="ellipse">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lang="en" sz="800"/>
              <a:t>Outlet-CP</a:t>
            </a:r>
            <a:endParaRPr b="0" i="0" sz="800" u="none" cap="none" strike="noStrike">
              <a:solidFill>
                <a:srgbClr val="000000"/>
              </a:solidFill>
              <a:latin typeface="Arial"/>
              <a:ea typeface="Arial"/>
              <a:cs typeface="Arial"/>
              <a:sym typeface="Arial"/>
            </a:endParaRPr>
          </a:p>
        </p:txBody>
      </p:sp>
      <p:cxnSp>
        <p:nvCxnSpPr>
          <p:cNvPr id="241" name="Google Shape;241;p30"/>
          <p:cNvCxnSpPr>
            <a:stCxn id="239" idx="6"/>
            <a:endCxn id="238" idx="1"/>
          </p:cNvCxnSpPr>
          <p:nvPr/>
        </p:nvCxnSpPr>
        <p:spPr>
          <a:xfrm>
            <a:off x="3262150" y="4445708"/>
            <a:ext cx="301500" cy="2100"/>
          </a:xfrm>
          <a:prstGeom prst="straightConnector1">
            <a:avLst/>
          </a:prstGeom>
          <a:noFill/>
          <a:ln cap="flat" cmpd="sng" w="9525">
            <a:solidFill>
              <a:srgbClr val="000000"/>
            </a:solidFill>
            <a:prstDash val="solid"/>
            <a:round/>
            <a:headEnd len="sm" w="sm" type="none"/>
            <a:tailEnd len="med" w="med" type="triangle"/>
          </a:ln>
        </p:spPr>
      </p:cxnSp>
      <p:sp>
        <p:nvSpPr>
          <p:cNvPr id="242" name="Google Shape;242;p30"/>
          <p:cNvSpPr txBox="1"/>
          <p:nvPr/>
        </p:nvSpPr>
        <p:spPr>
          <a:xfrm>
            <a:off x="3231150" y="4186918"/>
            <a:ext cx="3681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FF"/>
                </a:solidFill>
                <a:latin typeface="Arial"/>
                <a:ea typeface="Arial"/>
                <a:cs typeface="Arial"/>
                <a:sym typeface="Arial"/>
              </a:rPr>
              <a:t>cnx</a:t>
            </a:r>
            <a:endParaRPr b="0" i="0" sz="900" u="none" cap="none" strike="noStrike">
              <a:solidFill>
                <a:srgbClr val="0000FF"/>
              </a:solidFill>
              <a:latin typeface="Arial"/>
              <a:ea typeface="Arial"/>
              <a:cs typeface="Arial"/>
              <a:sym typeface="Arial"/>
            </a:endParaRPr>
          </a:p>
        </p:txBody>
      </p:sp>
      <p:cxnSp>
        <p:nvCxnSpPr>
          <p:cNvPr id="243" name="Google Shape;243;p30"/>
          <p:cNvCxnSpPr>
            <a:stCxn id="238" idx="3"/>
            <a:endCxn id="240" idx="2"/>
          </p:cNvCxnSpPr>
          <p:nvPr/>
        </p:nvCxnSpPr>
        <p:spPr>
          <a:xfrm flipH="1" rot="10800000">
            <a:off x="4549125" y="4444650"/>
            <a:ext cx="297600" cy="3300"/>
          </a:xfrm>
          <a:prstGeom prst="straightConnector1">
            <a:avLst/>
          </a:prstGeom>
          <a:noFill/>
          <a:ln cap="flat" cmpd="sng" w="9525">
            <a:solidFill>
              <a:srgbClr val="000000"/>
            </a:solidFill>
            <a:prstDash val="solid"/>
            <a:round/>
            <a:headEnd len="sm" w="sm" type="none"/>
            <a:tailEnd len="med" w="med" type="triangle"/>
          </a:ln>
        </p:spPr>
      </p:cxnSp>
      <p:sp>
        <p:nvSpPr>
          <p:cNvPr id="244" name="Google Shape;244;p30"/>
          <p:cNvSpPr txBox="1"/>
          <p:nvPr/>
        </p:nvSpPr>
        <p:spPr>
          <a:xfrm>
            <a:off x="4509588" y="4171939"/>
            <a:ext cx="3681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FF"/>
                </a:solidFill>
                <a:latin typeface="Arial"/>
                <a:ea typeface="Arial"/>
                <a:cs typeface="Arial"/>
                <a:sym typeface="Arial"/>
              </a:rPr>
              <a:t>cnx</a:t>
            </a:r>
            <a:endParaRPr b="0" i="0" sz="900" u="none" cap="none" strike="noStrike">
              <a:solidFill>
                <a:srgbClr val="0000FF"/>
              </a:solidFill>
              <a:latin typeface="Arial"/>
              <a:ea typeface="Arial"/>
              <a:cs typeface="Arial"/>
              <a:sym typeface="Arial"/>
            </a:endParaRPr>
          </a:p>
        </p:txBody>
      </p:sp>
      <p:sp>
        <p:nvSpPr>
          <p:cNvPr id="245" name="Google Shape;245;p30"/>
          <p:cNvSpPr/>
          <p:nvPr/>
        </p:nvSpPr>
        <p:spPr>
          <a:xfrm>
            <a:off x="4870017" y="4787013"/>
            <a:ext cx="947400" cy="163800"/>
          </a:xfrm>
          <a:prstGeom prst="ellipse">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lang="en" sz="800"/>
              <a:t>Outlet-CP</a:t>
            </a:r>
            <a:endParaRPr b="0" i="0" sz="800" u="none" cap="none" strike="noStrike">
              <a:solidFill>
                <a:srgbClr val="000000"/>
              </a:solidFill>
              <a:latin typeface="Arial"/>
              <a:ea typeface="Arial"/>
              <a:cs typeface="Arial"/>
              <a:sym typeface="Arial"/>
            </a:endParaRPr>
          </a:p>
        </p:txBody>
      </p:sp>
      <p:cxnSp>
        <p:nvCxnSpPr>
          <p:cNvPr id="246" name="Google Shape;246;p30"/>
          <p:cNvCxnSpPr>
            <a:stCxn id="238" idx="3"/>
            <a:endCxn id="245" idx="2"/>
          </p:cNvCxnSpPr>
          <p:nvPr/>
        </p:nvCxnSpPr>
        <p:spPr>
          <a:xfrm>
            <a:off x="4549125" y="4447950"/>
            <a:ext cx="321000" cy="420900"/>
          </a:xfrm>
          <a:prstGeom prst="straightConnector1">
            <a:avLst/>
          </a:prstGeom>
          <a:noFill/>
          <a:ln cap="flat" cmpd="sng" w="9525">
            <a:solidFill>
              <a:srgbClr val="000000"/>
            </a:solidFill>
            <a:prstDash val="solid"/>
            <a:round/>
            <a:headEnd len="sm" w="sm" type="none"/>
            <a:tailEnd len="med" w="med" type="triangle"/>
          </a:ln>
        </p:spPr>
      </p:cxnSp>
      <p:cxnSp>
        <p:nvCxnSpPr>
          <p:cNvPr id="247" name="Google Shape;247;p30"/>
          <p:cNvCxnSpPr/>
          <p:nvPr/>
        </p:nvCxnSpPr>
        <p:spPr>
          <a:xfrm>
            <a:off x="2150050" y="2399500"/>
            <a:ext cx="1639200" cy="1722600"/>
          </a:xfrm>
          <a:prstGeom prst="straightConnector1">
            <a:avLst/>
          </a:prstGeom>
          <a:noFill/>
          <a:ln cap="flat" cmpd="sng" w="9525">
            <a:solidFill>
              <a:schemeClr val="dk2"/>
            </a:solidFill>
            <a:prstDash val="dash"/>
            <a:round/>
            <a:headEnd len="med" w="med" type="none"/>
            <a:tailEnd len="med" w="med" type="triangle"/>
          </a:ln>
        </p:spPr>
      </p:cxnSp>
      <p:sp>
        <p:nvSpPr>
          <p:cNvPr id="248" name="Google Shape;248;p30"/>
          <p:cNvSpPr txBox="1"/>
          <p:nvPr/>
        </p:nvSpPr>
        <p:spPr>
          <a:xfrm>
            <a:off x="1955275" y="3183500"/>
            <a:ext cx="105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Inferenc</a:t>
            </a:r>
            <a:r>
              <a:rPr lang="en"/>
              <a:t>e</a:t>
            </a:r>
            <a:endParaRPr/>
          </a:p>
        </p:txBody>
      </p:sp>
      <p:cxnSp>
        <p:nvCxnSpPr>
          <p:cNvPr id="249" name="Google Shape;249;p30"/>
          <p:cNvCxnSpPr/>
          <p:nvPr/>
        </p:nvCxnSpPr>
        <p:spPr>
          <a:xfrm flipH="1">
            <a:off x="4240950" y="3421075"/>
            <a:ext cx="1211400" cy="653400"/>
          </a:xfrm>
          <a:prstGeom prst="straightConnector1">
            <a:avLst/>
          </a:prstGeom>
          <a:noFill/>
          <a:ln cap="flat" cmpd="sng" w="9525">
            <a:solidFill>
              <a:schemeClr val="dk2"/>
            </a:solidFill>
            <a:prstDash val="dash"/>
            <a:round/>
            <a:headEnd len="med" w="med" type="none"/>
            <a:tailEnd len="med" w="med" type="triangle"/>
          </a:ln>
        </p:spPr>
      </p:cxnSp>
      <p:sp>
        <p:nvSpPr>
          <p:cNvPr id="250" name="Google Shape;250;p30"/>
          <p:cNvSpPr txBox="1"/>
          <p:nvPr/>
        </p:nvSpPr>
        <p:spPr>
          <a:xfrm>
            <a:off x="5302175" y="3651050"/>
            <a:ext cx="126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Modeling</a:t>
            </a:r>
            <a:endParaRPr/>
          </a:p>
        </p:txBody>
      </p:sp>
      <p:cxnSp>
        <p:nvCxnSpPr>
          <p:cNvPr id="251" name="Google Shape;251;p30"/>
          <p:cNvCxnSpPr>
            <a:stCxn id="226" idx="2"/>
            <a:endCxn id="237" idx="0"/>
          </p:cNvCxnSpPr>
          <p:nvPr/>
        </p:nvCxnSpPr>
        <p:spPr>
          <a:xfrm>
            <a:off x="6014625" y="1937900"/>
            <a:ext cx="0" cy="539400"/>
          </a:xfrm>
          <a:prstGeom prst="straightConnector1">
            <a:avLst/>
          </a:prstGeom>
          <a:noFill/>
          <a:ln cap="flat" cmpd="sng" w="9525">
            <a:solidFill>
              <a:schemeClr val="dk2"/>
            </a:solidFill>
            <a:prstDash val="dash"/>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1"/>
          <p:cNvSpPr txBox="1"/>
          <p:nvPr>
            <p:ph type="title"/>
          </p:nvPr>
        </p:nvSpPr>
        <p:spPr>
          <a:xfrm>
            <a:off x="287400" y="1380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Equipment Rules: Inheritance of Validation Rules</a:t>
            </a:r>
            <a:endParaRPr/>
          </a:p>
        </p:txBody>
      </p:sp>
      <p:sp>
        <p:nvSpPr>
          <p:cNvPr id="257" name="Google Shape;257;p31"/>
          <p:cNvSpPr txBox="1"/>
          <p:nvPr/>
        </p:nvSpPr>
        <p:spPr>
          <a:xfrm>
            <a:off x="3183600" y="806826"/>
            <a:ext cx="2776800" cy="9543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00"/>
              <a:t>s223:HeatExchanger</a:t>
            </a:r>
            <a:endParaRPr sz="1300"/>
          </a:p>
          <a:p>
            <a:pPr indent="0" lvl="0" marL="0" rtl="0" algn="l">
              <a:spcBef>
                <a:spcPts val="0"/>
              </a:spcBef>
              <a:spcAft>
                <a:spcPts val="0"/>
              </a:spcAft>
              <a:buNone/>
            </a:pPr>
            <a:r>
              <a:t/>
            </a:r>
            <a:endParaRPr sz="400"/>
          </a:p>
          <a:p>
            <a:pPr indent="0" lvl="0" marL="0" rtl="0" algn="l">
              <a:spcBef>
                <a:spcPts val="0"/>
              </a:spcBef>
              <a:spcAft>
                <a:spcPts val="0"/>
              </a:spcAft>
              <a:buNone/>
            </a:pPr>
            <a:r>
              <a:rPr lang="en" sz="1100"/>
              <a:t>Rules:</a:t>
            </a:r>
            <a:endParaRPr sz="1100"/>
          </a:p>
          <a:p>
            <a:pPr indent="-298450" lvl="0" marL="457200" rtl="0" algn="l">
              <a:spcBef>
                <a:spcPts val="0"/>
              </a:spcBef>
              <a:spcAft>
                <a:spcPts val="0"/>
              </a:spcAft>
              <a:buSzPts val="1100"/>
              <a:buChar char="●"/>
            </a:pPr>
            <a:r>
              <a:rPr lang="en" sz="1100"/>
              <a:t>Must have at least two inlets</a:t>
            </a:r>
            <a:endParaRPr sz="1100"/>
          </a:p>
          <a:p>
            <a:pPr indent="-298450" lvl="0" marL="457200" rtl="0" algn="l">
              <a:spcBef>
                <a:spcPts val="0"/>
              </a:spcBef>
              <a:spcAft>
                <a:spcPts val="0"/>
              </a:spcAft>
              <a:buSzPts val="1100"/>
              <a:buChar char="●"/>
            </a:pPr>
            <a:r>
              <a:rPr lang="en" sz="1100"/>
              <a:t>Must have at least two outlets</a:t>
            </a:r>
            <a:endParaRPr sz="1100"/>
          </a:p>
        </p:txBody>
      </p:sp>
      <p:sp>
        <p:nvSpPr>
          <p:cNvPr id="258" name="Google Shape;258;p31"/>
          <p:cNvSpPr txBox="1"/>
          <p:nvPr/>
        </p:nvSpPr>
        <p:spPr>
          <a:xfrm>
            <a:off x="3183600" y="2022944"/>
            <a:ext cx="2776800" cy="12930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00"/>
              <a:t>s223:Coil</a:t>
            </a:r>
            <a:endParaRPr sz="1300"/>
          </a:p>
          <a:p>
            <a:pPr indent="0" lvl="0" marL="0" rtl="0" algn="l">
              <a:spcBef>
                <a:spcPts val="0"/>
              </a:spcBef>
              <a:spcAft>
                <a:spcPts val="0"/>
              </a:spcAft>
              <a:buNone/>
            </a:pPr>
            <a:r>
              <a:t/>
            </a:r>
            <a:endParaRPr sz="400"/>
          </a:p>
          <a:p>
            <a:pPr indent="0" lvl="0" marL="0" rtl="0" algn="l">
              <a:spcBef>
                <a:spcPts val="0"/>
              </a:spcBef>
              <a:spcAft>
                <a:spcPts val="0"/>
              </a:spcAft>
              <a:buNone/>
            </a:pPr>
            <a:r>
              <a:rPr lang="en" sz="1100"/>
              <a:t>Rules:</a:t>
            </a:r>
            <a:endParaRPr sz="1100"/>
          </a:p>
          <a:p>
            <a:pPr indent="-298450" lvl="0" marL="457200" rtl="0" algn="l">
              <a:spcBef>
                <a:spcPts val="0"/>
              </a:spcBef>
              <a:spcAft>
                <a:spcPts val="0"/>
              </a:spcAft>
              <a:buSzPts val="1100"/>
              <a:buChar char="●"/>
            </a:pPr>
            <a:r>
              <a:rPr lang="en" sz="1100"/>
              <a:t>One inlet and one outlet must have the medium Air</a:t>
            </a:r>
            <a:endParaRPr sz="1100"/>
          </a:p>
          <a:p>
            <a:pPr indent="-298450" lvl="0" marL="457200" rtl="0" algn="l">
              <a:spcBef>
                <a:spcPts val="0"/>
              </a:spcBef>
              <a:spcAft>
                <a:spcPts val="0"/>
              </a:spcAft>
              <a:buClr>
                <a:srgbClr val="666666"/>
              </a:buClr>
              <a:buSzPts val="1100"/>
              <a:buChar char="●"/>
            </a:pPr>
            <a:r>
              <a:rPr lang="en" sz="1100">
                <a:solidFill>
                  <a:srgbClr val="666666"/>
                </a:solidFill>
              </a:rPr>
              <a:t>Must have at least two inlets</a:t>
            </a:r>
            <a:endParaRPr sz="1100">
              <a:solidFill>
                <a:srgbClr val="666666"/>
              </a:solidFill>
            </a:endParaRPr>
          </a:p>
          <a:p>
            <a:pPr indent="-298450" lvl="0" marL="457200" rtl="0" algn="l">
              <a:spcBef>
                <a:spcPts val="0"/>
              </a:spcBef>
              <a:spcAft>
                <a:spcPts val="0"/>
              </a:spcAft>
              <a:buClr>
                <a:srgbClr val="666666"/>
              </a:buClr>
              <a:buSzPts val="1100"/>
              <a:buChar char="●"/>
            </a:pPr>
            <a:r>
              <a:rPr lang="en" sz="1100">
                <a:solidFill>
                  <a:srgbClr val="666666"/>
                </a:solidFill>
              </a:rPr>
              <a:t>Must have at least two outlets</a:t>
            </a:r>
            <a:endParaRPr sz="1100">
              <a:solidFill>
                <a:srgbClr val="666666"/>
              </a:solidFill>
            </a:endParaRPr>
          </a:p>
        </p:txBody>
      </p:sp>
      <p:sp>
        <p:nvSpPr>
          <p:cNvPr id="259" name="Google Shape;259;p31"/>
          <p:cNvSpPr txBox="1"/>
          <p:nvPr/>
        </p:nvSpPr>
        <p:spPr>
          <a:xfrm>
            <a:off x="852875" y="3593975"/>
            <a:ext cx="2776800" cy="14622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00"/>
              <a:t>s223:CoolingCoil</a:t>
            </a:r>
            <a:endParaRPr sz="1300"/>
          </a:p>
          <a:p>
            <a:pPr indent="0" lvl="0" marL="0" rtl="0" algn="l">
              <a:spcBef>
                <a:spcPts val="0"/>
              </a:spcBef>
              <a:spcAft>
                <a:spcPts val="0"/>
              </a:spcAft>
              <a:buNone/>
            </a:pPr>
            <a:r>
              <a:t/>
            </a:r>
            <a:endParaRPr sz="400"/>
          </a:p>
          <a:p>
            <a:pPr indent="0" lvl="0" marL="0" rtl="0" algn="l">
              <a:spcBef>
                <a:spcPts val="0"/>
              </a:spcBef>
              <a:spcAft>
                <a:spcPts val="0"/>
              </a:spcAft>
              <a:buNone/>
            </a:pPr>
            <a:r>
              <a:rPr lang="en" sz="1100"/>
              <a:t>Rules:</a:t>
            </a:r>
            <a:endParaRPr sz="1100"/>
          </a:p>
          <a:p>
            <a:pPr indent="-298450" lvl="0" marL="457200" rtl="0" algn="l">
              <a:spcBef>
                <a:spcPts val="0"/>
              </a:spcBef>
              <a:spcAft>
                <a:spcPts val="0"/>
              </a:spcAft>
              <a:buSzPts val="1100"/>
              <a:buChar char="●"/>
            </a:pPr>
            <a:r>
              <a:rPr lang="en" sz="1100"/>
              <a:t>must</a:t>
            </a:r>
            <a:r>
              <a:rPr lang="en" sz="1100"/>
              <a:t> have the role Cooling</a:t>
            </a:r>
            <a:endParaRPr sz="1100"/>
          </a:p>
          <a:p>
            <a:pPr indent="-298450" lvl="0" marL="457200" rtl="0" algn="l">
              <a:spcBef>
                <a:spcPts val="0"/>
              </a:spcBef>
              <a:spcAft>
                <a:spcPts val="0"/>
              </a:spcAft>
              <a:buClr>
                <a:srgbClr val="666666"/>
              </a:buClr>
              <a:buSzPts val="1100"/>
              <a:buChar char="●"/>
            </a:pPr>
            <a:r>
              <a:rPr lang="en" sz="1100">
                <a:solidFill>
                  <a:srgbClr val="666666"/>
                </a:solidFill>
              </a:rPr>
              <a:t>One inlet and one outlet must have the medium Air</a:t>
            </a:r>
            <a:endParaRPr sz="1100">
              <a:solidFill>
                <a:srgbClr val="666666"/>
              </a:solidFill>
            </a:endParaRPr>
          </a:p>
          <a:p>
            <a:pPr indent="-298450" lvl="0" marL="457200" rtl="0" algn="l">
              <a:spcBef>
                <a:spcPts val="0"/>
              </a:spcBef>
              <a:spcAft>
                <a:spcPts val="0"/>
              </a:spcAft>
              <a:buClr>
                <a:srgbClr val="666666"/>
              </a:buClr>
              <a:buSzPts val="1100"/>
              <a:buChar char="●"/>
            </a:pPr>
            <a:r>
              <a:rPr lang="en" sz="1100">
                <a:solidFill>
                  <a:srgbClr val="666666"/>
                </a:solidFill>
              </a:rPr>
              <a:t>Must have at least two inlets</a:t>
            </a:r>
            <a:endParaRPr sz="1100">
              <a:solidFill>
                <a:srgbClr val="666666"/>
              </a:solidFill>
            </a:endParaRPr>
          </a:p>
          <a:p>
            <a:pPr indent="-298450" lvl="0" marL="457200" rtl="0" algn="l">
              <a:spcBef>
                <a:spcPts val="0"/>
              </a:spcBef>
              <a:spcAft>
                <a:spcPts val="0"/>
              </a:spcAft>
              <a:buClr>
                <a:srgbClr val="666666"/>
              </a:buClr>
              <a:buSzPts val="1100"/>
              <a:buChar char="●"/>
            </a:pPr>
            <a:r>
              <a:rPr lang="en" sz="1100">
                <a:solidFill>
                  <a:srgbClr val="666666"/>
                </a:solidFill>
              </a:rPr>
              <a:t>Must have at least two outlets</a:t>
            </a:r>
            <a:endParaRPr sz="1100"/>
          </a:p>
        </p:txBody>
      </p:sp>
      <p:sp>
        <p:nvSpPr>
          <p:cNvPr id="260" name="Google Shape;260;p31"/>
          <p:cNvSpPr txBox="1"/>
          <p:nvPr/>
        </p:nvSpPr>
        <p:spPr>
          <a:xfrm>
            <a:off x="5465850" y="3593975"/>
            <a:ext cx="2776800" cy="14622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00"/>
              <a:t>s223:HeatingCoil</a:t>
            </a:r>
            <a:endParaRPr sz="1300"/>
          </a:p>
          <a:p>
            <a:pPr indent="0" lvl="0" marL="0" rtl="0" algn="l">
              <a:spcBef>
                <a:spcPts val="0"/>
              </a:spcBef>
              <a:spcAft>
                <a:spcPts val="0"/>
              </a:spcAft>
              <a:buNone/>
            </a:pPr>
            <a:r>
              <a:t/>
            </a:r>
            <a:endParaRPr sz="400"/>
          </a:p>
          <a:p>
            <a:pPr indent="0" lvl="0" marL="0" rtl="0" algn="l">
              <a:spcBef>
                <a:spcPts val="0"/>
              </a:spcBef>
              <a:spcAft>
                <a:spcPts val="0"/>
              </a:spcAft>
              <a:buNone/>
            </a:pPr>
            <a:r>
              <a:rPr lang="en" sz="1100"/>
              <a:t>Rules:</a:t>
            </a:r>
            <a:endParaRPr sz="1100"/>
          </a:p>
          <a:p>
            <a:pPr indent="-298450" lvl="0" marL="457200" rtl="0" algn="l">
              <a:spcBef>
                <a:spcPts val="0"/>
              </a:spcBef>
              <a:spcAft>
                <a:spcPts val="0"/>
              </a:spcAft>
              <a:buSzPts val="1100"/>
              <a:buChar char="●"/>
            </a:pPr>
            <a:r>
              <a:rPr lang="en" sz="1100"/>
              <a:t>must have the role Heating</a:t>
            </a:r>
            <a:endParaRPr sz="1100"/>
          </a:p>
          <a:p>
            <a:pPr indent="-298450" lvl="0" marL="457200" rtl="0" algn="l">
              <a:spcBef>
                <a:spcPts val="0"/>
              </a:spcBef>
              <a:spcAft>
                <a:spcPts val="0"/>
              </a:spcAft>
              <a:buClr>
                <a:srgbClr val="666666"/>
              </a:buClr>
              <a:buSzPts val="1100"/>
              <a:buChar char="●"/>
            </a:pPr>
            <a:r>
              <a:rPr lang="en" sz="1100">
                <a:solidFill>
                  <a:srgbClr val="666666"/>
                </a:solidFill>
              </a:rPr>
              <a:t>One inlet and one outlet must have the medium Air</a:t>
            </a:r>
            <a:endParaRPr sz="1100">
              <a:solidFill>
                <a:srgbClr val="666666"/>
              </a:solidFill>
            </a:endParaRPr>
          </a:p>
          <a:p>
            <a:pPr indent="-298450" lvl="0" marL="457200" rtl="0" algn="l">
              <a:spcBef>
                <a:spcPts val="0"/>
              </a:spcBef>
              <a:spcAft>
                <a:spcPts val="0"/>
              </a:spcAft>
              <a:buClr>
                <a:srgbClr val="666666"/>
              </a:buClr>
              <a:buSzPts val="1100"/>
              <a:buChar char="●"/>
            </a:pPr>
            <a:r>
              <a:rPr lang="en" sz="1100">
                <a:solidFill>
                  <a:srgbClr val="666666"/>
                </a:solidFill>
              </a:rPr>
              <a:t>Must have at least two inlets</a:t>
            </a:r>
            <a:endParaRPr sz="1100">
              <a:solidFill>
                <a:srgbClr val="666666"/>
              </a:solidFill>
            </a:endParaRPr>
          </a:p>
          <a:p>
            <a:pPr indent="-298450" lvl="0" marL="457200" rtl="0" algn="l">
              <a:spcBef>
                <a:spcPts val="0"/>
              </a:spcBef>
              <a:spcAft>
                <a:spcPts val="0"/>
              </a:spcAft>
              <a:buClr>
                <a:srgbClr val="666666"/>
              </a:buClr>
              <a:buSzPts val="1100"/>
              <a:buChar char="●"/>
            </a:pPr>
            <a:r>
              <a:rPr lang="en" sz="1100">
                <a:solidFill>
                  <a:srgbClr val="666666"/>
                </a:solidFill>
              </a:rPr>
              <a:t>Must have at least two outlets</a:t>
            </a:r>
            <a:endParaRPr sz="1100"/>
          </a:p>
        </p:txBody>
      </p:sp>
      <p:cxnSp>
        <p:nvCxnSpPr>
          <p:cNvPr id="261" name="Google Shape;261;p31"/>
          <p:cNvCxnSpPr>
            <a:stCxn id="257" idx="2"/>
            <a:endCxn id="258" idx="0"/>
          </p:cNvCxnSpPr>
          <p:nvPr/>
        </p:nvCxnSpPr>
        <p:spPr>
          <a:xfrm>
            <a:off x="4572000" y="1761126"/>
            <a:ext cx="0" cy="261900"/>
          </a:xfrm>
          <a:prstGeom prst="straightConnector1">
            <a:avLst/>
          </a:prstGeom>
          <a:noFill/>
          <a:ln cap="flat" cmpd="sng" w="9525">
            <a:solidFill>
              <a:schemeClr val="dk2"/>
            </a:solidFill>
            <a:prstDash val="solid"/>
            <a:round/>
            <a:headEnd len="med" w="med" type="none"/>
            <a:tailEnd len="med" w="med" type="triangle"/>
          </a:ln>
        </p:spPr>
      </p:cxnSp>
      <p:cxnSp>
        <p:nvCxnSpPr>
          <p:cNvPr id="262" name="Google Shape;262;p31"/>
          <p:cNvCxnSpPr>
            <a:stCxn id="258" idx="2"/>
            <a:endCxn id="259" idx="0"/>
          </p:cNvCxnSpPr>
          <p:nvPr/>
        </p:nvCxnSpPr>
        <p:spPr>
          <a:xfrm flipH="1">
            <a:off x="2241300" y="3315944"/>
            <a:ext cx="2330700" cy="278100"/>
          </a:xfrm>
          <a:prstGeom prst="straightConnector1">
            <a:avLst/>
          </a:prstGeom>
          <a:noFill/>
          <a:ln cap="flat" cmpd="sng" w="9525">
            <a:solidFill>
              <a:schemeClr val="dk2"/>
            </a:solidFill>
            <a:prstDash val="solid"/>
            <a:round/>
            <a:headEnd len="med" w="med" type="none"/>
            <a:tailEnd len="med" w="med" type="triangle"/>
          </a:ln>
        </p:spPr>
      </p:cxnSp>
      <p:cxnSp>
        <p:nvCxnSpPr>
          <p:cNvPr id="263" name="Google Shape;263;p31"/>
          <p:cNvCxnSpPr>
            <a:stCxn id="258" idx="2"/>
            <a:endCxn id="260" idx="0"/>
          </p:cNvCxnSpPr>
          <p:nvPr/>
        </p:nvCxnSpPr>
        <p:spPr>
          <a:xfrm>
            <a:off x="4572000" y="3315944"/>
            <a:ext cx="2282400" cy="278100"/>
          </a:xfrm>
          <a:prstGeom prst="straightConnector1">
            <a:avLst/>
          </a:prstGeom>
          <a:noFill/>
          <a:ln cap="flat" cmpd="sng" w="9525">
            <a:solidFill>
              <a:schemeClr val="dk2"/>
            </a:solidFill>
            <a:prstDash val="solid"/>
            <a:round/>
            <a:headEnd len="med" w="med" type="none"/>
            <a:tailEnd len="med" w="med" type="triangle"/>
          </a:ln>
        </p:spPr>
      </p:cxnSp>
      <p:sp>
        <p:nvSpPr>
          <p:cNvPr id="264" name="Google Shape;264;p31"/>
          <p:cNvSpPr txBox="1"/>
          <p:nvPr/>
        </p:nvSpPr>
        <p:spPr>
          <a:xfrm>
            <a:off x="4632700" y="1680726"/>
            <a:ext cx="1199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subClass</a:t>
            </a:r>
            <a:endParaRPr/>
          </a:p>
        </p:txBody>
      </p:sp>
      <p:sp>
        <p:nvSpPr>
          <p:cNvPr id="265" name="Google Shape;265;p31"/>
          <p:cNvSpPr txBox="1"/>
          <p:nvPr/>
        </p:nvSpPr>
        <p:spPr>
          <a:xfrm>
            <a:off x="6036400" y="3193775"/>
            <a:ext cx="1199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subClass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S223:Equipment Extensions</a:t>
            </a:r>
            <a:endParaRPr/>
          </a:p>
        </p:txBody>
      </p:sp>
      <p:sp>
        <p:nvSpPr>
          <p:cNvPr id="271" name="Google Shape;271;p32"/>
          <p:cNvSpPr txBox="1"/>
          <p:nvPr>
            <p:ph idx="1" type="body"/>
          </p:nvPr>
        </p:nvSpPr>
        <p:spPr>
          <a:xfrm>
            <a:off x="311700" y="1152475"/>
            <a:ext cx="8520600" cy="291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Rules for S223 Equipment are the minimal requirements for connecting the Equipment. They specify a minimum number of ConnectionPoints, the values for Medium, and hasDirections.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We use e</a:t>
            </a:r>
            <a:r>
              <a:rPr lang="en"/>
              <a:t>xtensions</a:t>
            </a:r>
            <a:r>
              <a:rPr lang="en"/>
              <a:t> to create stricter</a:t>
            </a:r>
            <a:r>
              <a:rPr lang="en"/>
              <a:t>, more helpful</a:t>
            </a:r>
            <a:r>
              <a:rPr lang="en"/>
              <a:t> rules. We are creating an extension for Guideline 36, that defines the HVAC systems in G36 in terms of s223 constructs.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3"/>
          <p:cNvSpPr txBox="1"/>
          <p:nvPr>
            <p:ph type="title"/>
          </p:nvPr>
        </p:nvSpPr>
        <p:spPr>
          <a:xfrm>
            <a:off x="311700" y="4311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G36 Extension: </a:t>
            </a:r>
            <a:r>
              <a:rPr lang="en"/>
              <a:t>Air Handling Unit </a:t>
            </a:r>
            <a:endParaRPr/>
          </a:p>
        </p:txBody>
      </p:sp>
      <p:sp>
        <p:nvSpPr>
          <p:cNvPr id="277" name="Google Shape;277;p33"/>
          <p:cNvSpPr txBox="1"/>
          <p:nvPr/>
        </p:nvSpPr>
        <p:spPr>
          <a:xfrm>
            <a:off x="381000" y="1145925"/>
            <a:ext cx="2776800" cy="10314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s223:AirHandlingUnit</a:t>
            </a:r>
            <a:endParaRPr/>
          </a:p>
          <a:p>
            <a:pPr indent="0" lvl="0" marL="0" rtl="0" algn="l">
              <a:spcBef>
                <a:spcPts val="0"/>
              </a:spcBef>
              <a:spcAft>
                <a:spcPts val="0"/>
              </a:spcAft>
              <a:buNone/>
            </a:pPr>
            <a:r>
              <a:t/>
            </a:r>
            <a:endParaRPr sz="500"/>
          </a:p>
          <a:p>
            <a:pPr indent="0" lvl="0" marL="0" rtl="0" algn="l">
              <a:spcBef>
                <a:spcPts val="0"/>
              </a:spcBef>
              <a:spcAft>
                <a:spcPts val="0"/>
              </a:spcAft>
              <a:buNone/>
            </a:pPr>
            <a:r>
              <a:rPr lang="en" sz="1200"/>
              <a:t>Rules:</a:t>
            </a:r>
            <a:endParaRPr sz="1200"/>
          </a:p>
          <a:p>
            <a:pPr indent="-304800" lvl="0" marL="457200" rtl="0" algn="l">
              <a:spcBef>
                <a:spcPts val="0"/>
              </a:spcBef>
              <a:spcAft>
                <a:spcPts val="0"/>
              </a:spcAft>
              <a:buSzPts val="1200"/>
              <a:buChar char="●"/>
            </a:pPr>
            <a:r>
              <a:rPr lang="en" sz="1200"/>
              <a:t>Will have at least one air inlet</a:t>
            </a:r>
            <a:endParaRPr sz="1200"/>
          </a:p>
          <a:p>
            <a:pPr indent="-304800" lvl="0" marL="457200" rtl="0" algn="l">
              <a:spcBef>
                <a:spcPts val="0"/>
              </a:spcBef>
              <a:spcAft>
                <a:spcPts val="0"/>
              </a:spcAft>
              <a:buSzPts val="1200"/>
              <a:buChar char="●"/>
            </a:pPr>
            <a:r>
              <a:rPr lang="en" sz="1200"/>
              <a:t>Will have at least one air outlet</a:t>
            </a:r>
            <a:endParaRPr sz="1200"/>
          </a:p>
        </p:txBody>
      </p:sp>
      <p:sp>
        <p:nvSpPr>
          <p:cNvPr id="278" name="Google Shape;278;p33"/>
          <p:cNvSpPr txBox="1"/>
          <p:nvPr/>
        </p:nvSpPr>
        <p:spPr>
          <a:xfrm>
            <a:off x="3176750" y="1138275"/>
            <a:ext cx="1956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s223</a:t>
            </a:r>
            <a:r>
              <a:rPr lang="en">
                <a:solidFill>
                  <a:schemeClr val="dk1"/>
                </a:solidFill>
              </a:rPr>
              <a:t> will accommodate nearly all air handling units, even the oddballs.</a:t>
            </a:r>
            <a:endParaRPr/>
          </a:p>
        </p:txBody>
      </p:sp>
      <p:sp>
        <p:nvSpPr>
          <p:cNvPr id="279" name="Google Shape;279;p33"/>
          <p:cNvSpPr txBox="1"/>
          <p:nvPr/>
        </p:nvSpPr>
        <p:spPr>
          <a:xfrm>
            <a:off x="381000" y="2821225"/>
            <a:ext cx="3248400" cy="19548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g36</a:t>
            </a:r>
            <a:r>
              <a:rPr lang="en"/>
              <a:t>:AirHandlingUnit</a:t>
            </a:r>
            <a:endParaRPr/>
          </a:p>
          <a:p>
            <a:pPr indent="0" lvl="0" marL="0" rtl="0" algn="l">
              <a:spcBef>
                <a:spcPts val="0"/>
              </a:spcBef>
              <a:spcAft>
                <a:spcPts val="0"/>
              </a:spcAft>
              <a:buNone/>
            </a:pPr>
            <a:r>
              <a:t/>
            </a:r>
            <a:endParaRPr sz="500"/>
          </a:p>
          <a:p>
            <a:pPr indent="0" lvl="0" marL="0" rtl="0" algn="l">
              <a:spcBef>
                <a:spcPts val="0"/>
              </a:spcBef>
              <a:spcAft>
                <a:spcPts val="0"/>
              </a:spcAft>
              <a:buNone/>
            </a:pPr>
            <a:r>
              <a:rPr lang="en" sz="1200"/>
              <a:t>Rules:</a:t>
            </a:r>
            <a:endParaRPr sz="1200"/>
          </a:p>
          <a:p>
            <a:pPr indent="-304800" lvl="0" marL="457200" rtl="0" algn="l">
              <a:spcBef>
                <a:spcPts val="0"/>
              </a:spcBef>
              <a:spcAft>
                <a:spcPts val="0"/>
              </a:spcAft>
              <a:buSzPts val="1200"/>
              <a:buChar char="●"/>
            </a:pPr>
            <a:r>
              <a:rPr lang="en" sz="1200"/>
              <a:t>Is a</a:t>
            </a:r>
            <a:r>
              <a:rPr lang="en" sz="1200"/>
              <a:t> s223:AirHandlingUnit</a:t>
            </a:r>
            <a:endParaRPr sz="1200"/>
          </a:p>
          <a:p>
            <a:pPr indent="-304800" lvl="0" marL="457200" rtl="0" algn="l">
              <a:spcBef>
                <a:spcPts val="0"/>
              </a:spcBef>
              <a:spcAft>
                <a:spcPts val="0"/>
              </a:spcAft>
              <a:buSzPts val="1200"/>
              <a:buChar char="●"/>
            </a:pPr>
            <a:r>
              <a:rPr lang="en" sz="1200"/>
              <a:t>Will have 2 air inlet connection points</a:t>
            </a:r>
            <a:endParaRPr sz="1200"/>
          </a:p>
          <a:p>
            <a:pPr indent="-304800" lvl="0" marL="457200" rtl="0" algn="l">
              <a:spcBef>
                <a:spcPts val="0"/>
              </a:spcBef>
              <a:spcAft>
                <a:spcPts val="0"/>
              </a:spcAft>
              <a:buSzPts val="1200"/>
              <a:buChar char="●"/>
            </a:pPr>
            <a:r>
              <a:rPr lang="en" sz="1200"/>
              <a:t>Will have 2 air outlet connection points (exhaust and supply)</a:t>
            </a:r>
            <a:endParaRPr sz="1200"/>
          </a:p>
          <a:p>
            <a:pPr indent="-304800" lvl="0" marL="457200" rtl="0" algn="l">
              <a:spcBef>
                <a:spcPts val="0"/>
              </a:spcBef>
              <a:spcAft>
                <a:spcPts val="0"/>
              </a:spcAft>
              <a:buSzPts val="1200"/>
              <a:buChar char="●"/>
            </a:pPr>
            <a:r>
              <a:rPr lang="en" sz="1200"/>
              <a:t>Will contain at least one fan</a:t>
            </a:r>
            <a:endParaRPr sz="1200"/>
          </a:p>
          <a:p>
            <a:pPr indent="-304800" lvl="0" marL="457200" rtl="0" algn="l">
              <a:spcBef>
                <a:spcPts val="0"/>
              </a:spcBef>
              <a:spcAft>
                <a:spcPts val="0"/>
              </a:spcAft>
              <a:buSzPts val="1200"/>
              <a:buChar char="●"/>
            </a:pPr>
            <a:r>
              <a:rPr lang="en" sz="1200"/>
              <a:t>Will contain a heating coil</a:t>
            </a:r>
            <a:endParaRPr sz="1200"/>
          </a:p>
          <a:p>
            <a:pPr indent="-304800" lvl="0" marL="457200" rtl="0" algn="l">
              <a:spcBef>
                <a:spcPts val="0"/>
              </a:spcBef>
              <a:spcAft>
                <a:spcPts val="0"/>
              </a:spcAft>
              <a:buSzPts val="1200"/>
              <a:buChar char="●"/>
            </a:pPr>
            <a:r>
              <a:rPr lang="en" sz="1200"/>
              <a:t>Will contain a cooling coil</a:t>
            </a:r>
            <a:endParaRPr sz="1200"/>
          </a:p>
        </p:txBody>
      </p:sp>
      <p:sp>
        <p:nvSpPr>
          <p:cNvPr id="280" name="Google Shape;280;p33"/>
          <p:cNvSpPr txBox="1"/>
          <p:nvPr/>
        </p:nvSpPr>
        <p:spPr>
          <a:xfrm>
            <a:off x="3767425" y="3695663"/>
            <a:ext cx="27204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Extensions</a:t>
            </a:r>
            <a:r>
              <a:rPr lang="en">
                <a:solidFill>
                  <a:schemeClr val="dk1"/>
                </a:solidFill>
              </a:rPr>
              <a:t> will have more specific constraints that make s223 models easier to build and validate</a:t>
            </a:r>
            <a:endParaRPr>
              <a:solidFill>
                <a:schemeClr val="dk1"/>
              </a:solidFill>
            </a:endParaRPr>
          </a:p>
        </p:txBody>
      </p:sp>
      <p:sp>
        <p:nvSpPr>
          <p:cNvPr id="281" name="Google Shape;281;p33"/>
          <p:cNvSpPr/>
          <p:nvPr/>
        </p:nvSpPr>
        <p:spPr>
          <a:xfrm>
            <a:off x="6487825" y="2630775"/>
            <a:ext cx="985500" cy="2967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n" sz="900"/>
              <a:t>S223: AirHandlingUnit</a:t>
            </a:r>
            <a:endParaRPr b="0" i="0" sz="900" u="none" cap="none" strike="noStrike">
              <a:solidFill>
                <a:srgbClr val="000000"/>
              </a:solidFill>
              <a:latin typeface="Arial"/>
              <a:ea typeface="Arial"/>
              <a:cs typeface="Arial"/>
              <a:sym typeface="Arial"/>
            </a:endParaRPr>
          </a:p>
        </p:txBody>
      </p:sp>
      <p:sp>
        <p:nvSpPr>
          <p:cNvPr id="282" name="Google Shape;282;p33"/>
          <p:cNvSpPr/>
          <p:nvPr/>
        </p:nvSpPr>
        <p:spPr>
          <a:xfrm>
            <a:off x="5187800" y="2437733"/>
            <a:ext cx="947400" cy="163800"/>
          </a:xfrm>
          <a:prstGeom prst="ellipse">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lang="en" sz="800"/>
              <a:t>s223:Inlet</a:t>
            </a:r>
            <a:endParaRPr b="0" i="0" sz="800" u="none" cap="none" strike="noStrike">
              <a:solidFill>
                <a:srgbClr val="000000"/>
              </a:solidFill>
              <a:latin typeface="Arial"/>
              <a:ea typeface="Arial"/>
              <a:cs typeface="Arial"/>
              <a:sym typeface="Arial"/>
            </a:endParaRPr>
          </a:p>
        </p:txBody>
      </p:sp>
      <p:sp>
        <p:nvSpPr>
          <p:cNvPr id="283" name="Google Shape;283;p33"/>
          <p:cNvSpPr/>
          <p:nvPr/>
        </p:nvSpPr>
        <p:spPr>
          <a:xfrm>
            <a:off x="7770925" y="2556613"/>
            <a:ext cx="947400" cy="163800"/>
          </a:xfrm>
          <a:prstGeom prst="ellipse">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lang="en" sz="800"/>
              <a:t>s223:Inlet</a:t>
            </a:r>
            <a:endParaRPr b="0" i="0" sz="800" u="none" cap="none" strike="noStrike">
              <a:solidFill>
                <a:srgbClr val="000000"/>
              </a:solidFill>
              <a:latin typeface="Arial"/>
              <a:ea typeface="Arial"/>
              <a:cs typeface="Arial"/>
              <a:sym typeface="Arial"/>
            </a:endParaRPr>
          </a:p>
        </p:txBody>
      </p:sp>
      <p:cxnSp>
        <p:nvCxnSpPr>
          <p:cNvPr id="284" name="Google Shape;284;p33"/>
          <p:cNvCxnSpPr>
            <a:stCxn id="282" idx="6"/>
            <a:endCxn id="281" idx="1"/>
          </p:cNvCxnSpPr>
          <p:nvPr/>
        </p:nvCxnSpPr>
        <p:spPr>
          <a:xfrm>
            <a:off x="6135200" y="2519633"/>
            <a:ext cx="352500" cy="259500"/>
          </a:xfrm>
          <a:prstGeom prst="straightConnector1">
            <a:avLst/>
          </a:prstGeom>
          <a:noFill/>
          <a:ln cap="flat" cmpd="sng" w="9525">
            <a:solidFill>
              <a:srgbClr val="000000"/>
            </a:solidFill>
            <a:prstDash val="solid"/>
            <a:round/>
            <a:headEnd len="sm" w="sm" type="none"/>
            <a:tailEnd len="med" w="med" type="triangle"/>
          </a:ln>
        </p:spPr>
      </p:cxnSp>
      <p:cxnSp>
        <p:nvCxnSpPr>
          <p:cNvPr id="285" name="Google Shape;285;p33"/>
          <p:cNvCxnSpPr>
            <a:stCxn id="281" idx="3"/>
            <a:endCxn id="283" idx="2"/>
          </p:cNvCxnSpPr>
          <p:nvPr/>
        </p:nvCxnSpPr>
        <p:spPr>
          <a:xfrm flipH="1" rot="10800000">
            <a:off x="7473325" y="2638425"/>
            <a:ext cx="297600" cy="140700"/>
          </a:xfrm>
          <a:prstGeom prst="straightConnector1">
            <a:avLst/>
          </a:prstGeom>
          <a:noFill/>
          <a:ln cap="flat" cmpd="sng" w="9525">
            <a:solidFill>
              <a:srgbClr val="000000"/>
            </a:solidFill>
            <a:prstDash val="solid"/>
            <a:round/>
            <a:headEnd len="sm" w="sm" type="triangle"/>
            <a:tailEnd len="med" w="med" type="none"/>
          </a:ln>
        </p:spPr>
      </p:cxnSp>
      <p:sp>
        <p:nvSpPr>
          <p:cNvPr id="286" name="Google Shape;286;p33"/>
          <p:cNvSpPr/>
          <p:nvPr/>
        </p:nvSpPr>
        <p:spPr>
          <a:xfrm>
            <a:off x="7770901" y="2779150"/>
            <a:ext cx="1057500" cy="163800"/>
          </a:xfrm>
          <a:prstGeom prst="ellipse">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lang="en" sz="800"/>
              <a:t>s223:</a:t>
            </a:r>
            <a:r>
              <a:rPr lang="en" sz="800"/>
              <a:t>Outlet</a:t>
            </a:r>
            <a:endParaRPr b="0" i="0" sz="800" u="none" cap="none" strike="noStrike">
              <a:solidFill>
                <a:srgbClr val="000000"/>
              </a:solidFill>
              <a:latin typeface="Arial"/>
              <a:ea typeface="Arial"/>
              <a:cs typeface="Arial"/>
              <a:sym typeface="Arial"/>
            </a:endParaRPr>
          </a:p>
        </p:txBody>
      </p:sp>
      <p:cxnSp>
        <p:nvCxnSpPr>
          <p:cNvPr id="287" name="Google Shape;287;p33"/>
          <p:cNvCxnSpPr>
            <a:stCxn id="281" idx="3"/>
            <a:endCxn id="286" idx="2"/>
          </p:cNvCxnSpPr>
          <p:nvPr/>
        </p:nvCxnSpPr>
        <p:spPr>
          <a:xfrm>
            <a:off x="7473325" y="2779125"/>
            <a:ext cx="297600" cy="81900"/>
          </a:xfrm>
          <a:prstGeom prst="straightConnector1">
            <a:avLst/>
          </a:prstGeom>
          <a:noFill/>
          <a:ln cap="flat" cmpd="sng" w="9525">
            <a:solidFill>
              <a:srgbClr val="000000"/>
            </a:solidFill>
            <a:prstDash val="solid"/>
            <a:round/>
            <a:headEnd len="sm" w="sm" type="none"/>
            <a:tailEnd len="med" w="med" type="triangle"/>
          </a:ln>
        </p:spPr>
      </p:cxnSp>
      <p:sp>
        <p:nvSpPr>
          <p:cNvPr id="288" name="Google Shape;288;p33"/>
          <p:cNvSpPr/>
          <p:nvPr/>
        </p:nvSpPr>
        <p:spPr>
          <a:xfrm>
            <a:off x="5132751" y="2779125"/>
            <a:ext cx="1057500" cy="163800"/>
          </a:xfrm>
          <a:prstGeom prst="ellipse">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lang="en" sz="800"/>
              <a:t>s223:Outlet</a:t>
            </a:r>
            <a:endParaRPr b="0" i="0" sz="800" u="none" cap="none" strike="noStrike">
              <a:solidFill>
                <a:srgbClr val="000000"/>
              </a:solidFill>
              <a:latin typeface="Arial"/>
              <a:ea typeface="Arial"/>
              <a:cs typeface="Arial"/>
              <a:sym typeface="Arial"/>
            </a:endParaRPr>
          </a:p>
        </p:txBody>
      </p:sp>
      <p:cxnSp>
        <p:nvCxnSpPr>
          <p:cNvPr id="289" name="Google Shape;289;p33"/>
          <p:cNvCxnSpPr>
            <a:stCxn id="281" idx="1"/>
            <a:endCxn id="288" idx="6"/>
          </p:cNvCxnSpPr>
          <p:nvPr/>
        </p:nvCxnSpPr>
        <p:spPr>
          <a:xfrm flipH="1">
            <a:off x="6190225" y="2779125"/>
            <a:ext cx="297600" cy="81900"/>
          </a:xfrm>
          <a:prstGeom prst="straightConnector1">
            <a:avLst/>
          </a:prstGeom>
          <a:noFill/>
          <a:ln cap="flat" cmpd="sng" w="9525">
            <a:solidFill>
              <a:schemeClr val="dk1"/>
            </a:solidFill>
            <a:prstDash val="solid"/>
            <a:round/>
            <a:headEnd len="med" w="med" type="none"/>
            <a:tailEnd len="med" w="med" type="triangle"/>
          </a:ln>
        </p:spPr>
      </p:cxnSp>
      <p:cxnSp>
        <p:nvCxnSpPr>
          <p:cNvPr id="290" name="Google Shape;290;p33"/>
          <p:cNvCxnSpPr>
            <a:stCxn id="281" idx="2"/>
          </p:cNvCxnSpPr>
          <p:nvPr/>
        </p:nvCxnSpPr>
        <p:spPr>
          <a:xfrm flipH="1">
            <a:off x="6299575" y="2927475"/>
            <a:ext cx="681000" cy="208500"/>
          </a:xfrm>
          <a:prstGeom prst="straightConnector1">
            <a:avLst/>
          </a:prstGeom>
          <a:noFill/>
          <a:ln cap="flat" cmpd="sng" w="9525">
            <a:solidFill>
              <a:schemeClr val="dk1"/>
            </a:solidFill>
            <a:prstDash val="solid"/>
            <a:round/>
            <a:headEnd len="med" w="med" type="none"/>
            <a:tailEnd len="med" w="med" type="triangle"/>
          </a:ln>
        </p:spPr>
      </p:cxnSp>
      <p:cxnSp>
        <p:nvCxnSpPr>
          <p:cNvPr id="291" name="Google Shape;291;p33"/>
          <p:cNvCxnSpPr>
            <a:stCxn id="281" idx="2"/>
          </p:cNvCxnSpPr>
          <p:nvPr/>
        </p:nvCxnSpPr>
        <p:spPr>
          <a:xfrm>
            <a:off x="6980575" y="2927475"/>
            <a:ext cx="30000" cy="190800"/>
          </a:xfrm>
          <a:prstGeom prst="straightConnector1">
            <a:avLst/>
          </a:prstGeom>
          <a:noFill/>
          <a:ln cap="flat" cmpd="sng" w="9525">
            <a:solidFill>
              <a:schemeClr val="dk1"/>
            </a:solidFill>
            <a:prstDash val="solid"/>
            <a:round/>
            <a:headEnd len="med" w="med" type="none"/>
            <a:tailEnd len="med" w="med" type="triangle"/>
          </a:ln>
        </p:spPr>
      </p:cxnSp>
      <p:cxnSp>
        <p:nvCxnSpPr>
          <p:cNvPr id="292" name="Google Shape;292;p33"/>
          <p:cNvCxnSpPr>
            <a:stCxn id="281" idx="2"/>
          </p:cNvCxnSpPr>
          <p:nvPr/>
        </p:nvCxnSpPr>
        <p:spPr>
          <a:xfrm>
            <a:off x="6980575" y="2927475"/>
            <a:ext cx="457500" cy="143400"/>
          </a:xfrm>
          <a:prstGeom prst="straightConnector1">
            <a:avLst/>
          </a:prstGeom>
          <a:noFill/>
          <a:ln cap="flat" cmpd="sng" w="9525">
            <a:solidFill>
              <a:schemeClr val="dk1"/>
            </a:solidFill>
            <a:prstDash val="solid"/>
            <a:round/>
            <a:headEnd len="med" w="med" type="none"/>
            <a:tailEnd len="med" w="med" type="triangle"/>
          </a:ln>
        </p:spPr>
      </p:cxnSp>
      <p:sp>
        <p:nvSpPr>
          <p:cNvPr id="293" name="Google Shape;293;p33"/>
          <p:cNvSpPr/>
          <p:nvPr/>
        </p:nvSpPr>
        <p:spPr>
          <a:xfrm>
            <a:off x="6744588" y="3132779"/>
            <a:ext cx="536700" cy="2967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n" sz="900"/>
              <a:t>S223: Fan</a:t>
            </a:r>
            <a:endParaRPr b="0" i="0" sz="900" u="none" cap="none" strike="noStrike">
              <a:solidFill>
                <a:srgbClr val="000000"/>
              </a:solidFill>
              <a:latin typeface="Arial"/>
              <a:ea typeface="Arial"/>
              <a:cs typeface="Arial"/>
              <a:sym typeface="Arial"/>
            </a:endParaRPr>
          </a:p>
        </p:txBody>
      </p:sp>
      <p:sp>
        <p:nvSpPr>
          <p:cNvPr id="294" name="Google Shape;294;p33"/>
          <p:cNvSpPr/>
          <p:nvPr/>
        </p:nvSpPr>
        <p:spPr>
          <a:xfrm>
            <a:off x="5687125" y="3170942"/>
            <a:ext cx="800700" cy="2967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n" sz="900"/>
              <a:t>S223: HeatingCoil</a:t>
            </a:r>
            <a:endParaRPr b="0" i="0" sz="900" u="none" cap="none" strike="noStrike">
              <a:solidFill>
                <a:srgbClr val="000000"/>
              </a:solidFill>
              <a:latin typeface="Arial"/>
              <a:ea typeface="Arial"/>
              <a:cs typeface="Arial"/>
              <a:sym typeface="Arial"/>
            </a:endParaRPr>
          </a:p>
        </p:txBody>
      </p:sp>
      <p:sp>
        <p:nvSpPr>
          <p:cNvPr id="295" name="Google Shape;295;p33"/>
          <p:cNvSpPr/>
          <p:nvPr/>
        </p:nvSpPr>
        <p:spPr>
          <a:xfrm>
            <a:off x="7438075" y="3173150"/>
            <a:ext cx="800700" cy="2967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n" sz="900"/>
              <a:t>S223: CoolingCoil</a:t>
            </a:r>
            <a:endParaRPr b="0" i="0" sz="900" u="none" cap="none" strike="noStrike">
              <a:solidFill>
                <a:srgbClr val="000000"/>
              </a:solidFill>
              <a:latin typeface="Arial"/>
              <a:ea typeface="Arial"/>
              <a:cs typeface="Arial"/>
              <a:sym typeface="Arial"/>
            </a:endParaRPr>
          </a:p>
        </p:txBody>
      </p:sp>
      <p:cxnSp>
        <p:nvCxnSpPr>
          <p:cNvPr id="296" name="Google Shape;296;p33"/>
          <p:cNvCxnSpPr>
            <a:stCxn id="279" idx="3"/>
          </p:cNvCxnSpPr>
          <p:nvPr/>
        </p:nvCxnSpPr>
        <p:spPr>
          <a:xfrm flipH="1" rot="10800000">
            <a:off x="3629400" y="3147925"/>
            <a:ext cx="1561500" cy="650700"/>
          </a:xfrm>
          <a:prstGeom prst="straightConnector1">
            <a:avLst/>
          </a:prstGeom>
          <a:noFill/>
          <a:ln cap="flat" cmpd="sng" w="9525">
            <a:solidFill>
              <a:schemeClr val="dk2"/>
            </a:solidFill>
            <a:prstDash val="solid"/>
            <a:round/>
            <a:headEnd len="med" w="med" type="triangl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g36:Extension</a:t>
            </a:r>
            <a:endParaRPr/>
          </a:p>
        </p:txBody>
      </p:sp>
      <p:sp>
        <p:nvSpPr>
          <p:cNvPr id="302" name="Google Shape;302;p34"/>
          <p:cNvSpPr txBox="1"/>
          <p:nvPr>
            <p:ph idx="1" type="body"/>
          </p:nvPr>
        </p:nvSpPr>
        <p:spPr>
          <a:xfrm>
            <a:off x="311700" y="1152475"/>
            <a:ext cx="8520600" cy="394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rules associated with a g36:AirHandlingUnit can be used to </a:t>
            </a:r>
            <a:endParaRPr/>
          </a:p>
          <a:p>
            <a:pPr indent="-342900" lvl="0" marL="457200" rtl="0" algn="l">
              <a:spcBef>
                <a:spcPts val="1200"/>
              </a:spcBef>
              <a:spcAft>
                <a:spcPts val="0"/>
              </a:spcAft>
              <a:buSzPts val="1800"/>
              <a:buChar char="●"/>
            </a:pPr>
            <a:r>
              <a:rPr lang="en"/>
              <a:t>Validate whether a g36:AirHandlingUnit has been correctly modeled</a:t>
            </a:r>
            <a:endParaRPr/>
          </a:p>
          <a:p>
            <a:pPr indent="-342900" lvl="0" marL="457200" rtl="0" algn="l">
              <a:spcBef>
                <a:spcPts val="0"/>
              </a:spcBef>
              <a:spcAft>
                <a:spcPts val="0"/>
              </a:spcAft>
              <a:buSzPts val="1800"/>
              <a:buChar char="●"/>
            </a:pPr>
            <a:r>
              <a:rPr lang="en"/>
              <a:t>Label s223:AirHandlingUnits that satisfy constraints for G36:AirHandlingUnits, making them easy to find</a:t>
            </a:r>
            <a:endParaRPr/>
          </a:p>
          <a:p>
            <a:pPr indent="-342900" lvl="0" marL="457200" rtl="0" algn="l">
              <a:spcBef>
                <a:spcPts val="0"/>
              </a:spcBef>
              <a:spcAft>
                <a:spcPts val="0"/>
              </a:spcAft>
              <a:buSzPts val="1800"/>
              <a:buChar char="●"/>
            </a:pPr>
            <a:r>
              <a:rPr lang="en"/>
              <a:t>Infer the </a:t>
            </a:r>
            <a:r>
              <a:rPr lang="en"/>
              <a:t>equipment</a:t>
            </a:r>
            <a:r>
              <a:rPr lang="en"/>
              <a:t> contained in a g36:AirHandlingUnit, streamlining the model building process.</a:t>
            </a:r>
            <a:endParaRPr/>
          </a:p>
          <a:p>
            <a:pPr indent="0" lvl="0" marL="0" rtl="0" algn="l">
              <a:spcBef>
                <a:spcPts val="1200"/>
              </a:spcBef>
              <a:spcAft>
                <a:spcPts val="1200"/>
              </a:spcAft>
              <a:buNone/>
            </a:pPr>
            <a:r>
              <a:rPr lang="en"/>
              <a:t>Extension are used to ‘expand’ equipment into their fundamental s223 components, maintaining interoperability.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5"/>
          <p:cNvSpPr/>
          <p:nvPr/>
        </p:nvSpPr>
        <p:spPr>
          <a:xfrm>
            <a:off x="2221995" y="3876825"/>
            <a:ext cx="4524300" cy="799200"/>
          </a:xfrm>
          <a:prstGeom prst="rect">
            <a:avLst/>
          </a:prstGeom>
          <a:solidFill>
            <a:srgbClr val="FFFFFF"/>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5"/>
          <p:cNvSpPr/>
          <p:nvPr/>
        </p:nvSpPr>
        <p:spPr>
          <a:xfrm>
            <a:off x="4733300" y="1187498"/>
            <a:ext cx="3922800" cy="2228700"/>
          </a:xfrm>
          <a:prstGeom prst="rect">
            <a:avLst/>
          </a:prstGeom>
          <a:solidFill>
            <a:srgbClr val="FFFFFF"/>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5"/>
          <p:cNvSpPr/>
          <p:nvPr/>
        </p:nvSpPr>
        <p:spPr>
          <a:xfrm>
            <a:off x="376500" y="1469575"/>
            <a:ext cx="3849900" cy="1955400"/>
          </a:xfrm>
          <a:prstGeom prst="rect">
            <a:avLst/>
          </a:prstGeom>
          <a:solidFill>
            <a:srgbClr val="FFFFFF"/>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5"/>
          <p:cNvSpPr txBox="1"/>
          <p:nvPr>
            <p:ph type="title"/>
          </p:nvPr>
        </p:nvSpPr>
        <p:spPr>
          <a:xfrm>
            <a:off x="311700" y="196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Presented Equipment</a:t>
            </a:r>
            <a:endParaRPr/>
          </a:p>
        </p:txBody>
      </p:sp>
      <p:sp>
        <p:nvSpPr>
          <p:cNvPr id="311" name="Google Shape;311;p35"/>
          <p:cNvSpPr txBox="1"/>
          <p:nvPr/>
        </p:nvSpPr>
        <p:spPr>
          <a:xfrm>
            <a:off x="1956925" y="1840725"/>
            <a:ext cx="636000" cy="3849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00"/>
              <a:t>Valve</a:t>
            </a:r>
            <a:endParaRPr sz="1100"/>
          </a:p>
        </p:txBody>
      </p:sp>
      <p:sp>
        <p:nvSpPr>
          <p:cNvPr id="312" name="Google Shape;312;p35"/>
          <p:cNvSpPr txBox="1"/>
          <p:nvPr/>
        </p:nvSpPr>
        <p:spPr>
          <a:xfrm>
            <a:off x="578875" y="2642925"/>
            <a:ext cx="1522200" cy="3849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00"/>
              <a:t>TwoWay</a:t>
            </a:r>
            <a:r>
              <a:rPr lang="en" sz="1300"/>
              <a:t>Valve</a:t>
            </a:r>
            <a:endParaRPr sz="1100"/>
          </a:p>
        </p:txBody>
      </p:sp>
      <p:sp>
        <p:nvSpPr>
          <p:cNvPr id="313" name="Google Shape;313;p35"/>
          <p:cNvSpPr txBox="1"/>
          <p:nvPr/>
        </p:nvSpPr>
        <p:spPr>
          <a:xfrm>
            <a:off x="2474250" y="2606475"/>
            <a:ext cx="1570200" cy="3849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00"/>
              <a:t>ThreeWay</a:t>
            </a:r>
            <a:r>
              <a:rPr lang="en" sz="1300"/>
              <a:t>Valve</a:t>
            </a:r>
            <a:endParaRPr sz="1100"/>
          </a:p>
        </p:txBody>
      </p:sp>
      <p:cxnSp>
        <p:nvCxnSpPr>
          <p:cNvPr id="314" name="Google Shape;314;p35"/>
          <p:cNvCxnSpPr>
            <a:stCxn id="311" idx="2"/>
            <a:endCxn id="312" idx="0"/>
          </p:cNvCxnSpPr>
          <p:nvPr/>
        </p:nvCxnSpPr>
        <p:spPr>
          <a:xfrm flipH="1">
            <a:off x="1339825" y="2225625"/>
            <a:ext cx="935100" cy="417300"/>
          </a:xfrm>
          <a:prstGeom prst="straightConnector1">
            <a:avLst/>
          </a:prstGeom>
          <a:noFill/>
          <a:ln cap="flat" cmpd="sng" w="9525">
            <a:solidFill>
              <a:schemeClr val="dk2"/>
            </a:solidFill>
            <a:prstDash val="solid"/>
            <a:round/>
            <a:headEnd len="med" w="med" type="none"/>
            <a:tailEnd len="med" w="med" type="triangle"/>
          </a:ln>
        </p:spPr>
      </p:cxnSp>
      <p:cxnSp>
        <p:nvCxnSpPr>
          <p:cNvPr id="315" name="Google Shape;315;p35"/>
          <p:cNvCxnSpPr>
            <a:stCxn id="311" idx="2"/>
            <a:endCxn id="313" idx="0"/>
          </p:cNvCxnSpPr>
          <p:nvPr/>
        </p:nvCxnSpPr>
        <p:spPr>
          <a:xfrm>
            <a:off x="2274925" y="2225625"/>
            <a:ext cx="984300" cy="381000"/>
          </a:xfrm>
          <a:prstGeom prst="straightConnector1">
            <a:avLst/>
          </a:prstGeom>
          <a:noFill/>
          <a:ln cap="flat" cmpd="sng" w="9525">
            <a:solidFill>
              <a:schemeClr val="dk2"/>
            </a:solidFill>
            <a:prstDash val="solid"/>
            <a:round/>
            <a:headEnd len="med" w="med" type="none"/>
            <a:tailEnd len="med" w="med" type="triangle"/>
          </a:ln>
        </p:spPr>
      </p:cxnSp>
      <p:sp>
        <p:nvSpPr>
          <p:cNvPr id="316" name="Google Shape;316;p35"/>
          <p:cNvSpPr txBox="1"/>
          <p:nvPr/>
        </p:nvSpPr>
        <p:spPr>
          <a:xfrm>
            <a:off x="6412675" y="2083198"/>
            <a:ext cx="473700" cy="3849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00"/>
              <a:t>Coil</a:t>
            </a:r>
            <a:endParaRPr sz="1100"/>
          </a:p>
        </p:txBody>
      </p:sp>
      <p:sp>
        <p:nvSpPr>
          <p:cNvPr id="317" name="Google Shape;317;p35"/>
          <p:cNvSpPr txBox="1"/>
          <p:nvPr/>
        </p:nvSpPr>
        <p:spPr>
          <a:xfrm>
            <a:off x="4951700" y="2848973"/>
            <a:ext cx="1522200" cy="3849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00"/>
              <a:t>HeatingCoil</a:t>
            </a:r>
            <a:endParaRPr sz="1100"/>
          </a:p>
        </p:txBody>
      </p:sp>
      <p:sp>
        <p:nvSpPr>
          <p:cNvPr id="318" name="Google Shape;318;p35"/>
          <p:cNvSpPr txBox="1"/>
          <p:nvPr/>
        </p:nvSpPr>
        <p:spPr>
          <a:xfrm>
            <a:off x="6847075" y="2812523"/>
            <a:ext cx="1570200" cy="3849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00"/>
              <a:t>CoolingCoil</a:t>
            </a:r>
            <a:endParaRPr sz="1100"/>
          </a:p>
        </p:txBody>
      </p:sp>
      <p:cxnSp>
        <p:nvCxnSpPr>
          <p:cNvPr id="319" name="Google Shape;319;p35"/>
          <p:cNvCxnSpPr>
            <a:stCxn id="316" idx="2"/>
            <a:endCxn id="317" idx="0"/>
          </p:cNvCxnSpPr>
          <p:nvPr/>
        </p:nvCxnSpPr>
        <p:spPr>
          <a:xfrm flipH="1">
            <a:off x="5712925" y="2468098"/>
            <a:ext cx="936600" cy="381000"/>
          </a:xfrm>
          <a:prstGeom prst="straightConnector1">
            <a:avLst/>
          </a:prstGeom>
          <a:noFill/>
          <a:ln cap="flat" cmpd="sng" w="9525">
            <a:solidFill>
              <a:schemeClr val="dk2"/>
            </a:solidFill>
            <a:prstDash val="solid"/>
            <a:round/>
            <a:headEnd len="med" w="med" type="none"/>
            <a:tailEnd len="med" w="med" type="triangle"/>
          </a:ln>
        </p:spPr>
      </p:cxnSp>
      <p:cxnSp>
        <p:nvCxnSpPr>
          <p:cNvPr id="320" name="Google Shape;320;p35"/>
          <p:cNvCxnSpPr>
            <a:stCxn id="316" idx="2"/>
            <a:endCxn id="318" idx="0"/>
          </p:cNvCxnSpPr>
          <p:nvPr/>
        </p:nvCxnSpPr>
        <p:spPr>
          <a:xfrm>
            <a:off x="6649525" y="2468098"/>
            <a:ext cx="982800" cy="344400"/>
          </a:xfrm>
          <a:prstGeom prst="straightConnector1">
            <a:avLst/>
          </a:prstGeom>
          <a:noFill/>
          <a:ln cap="flat" cmpd="sng" w="9525">
            <a:solidFill>
              <a:schemeClr val="dk2"/>
            </a:solidFill>
            <a:prstDash val="solid"/>
            <a:round/>
            <a:headEnd len="med" w="med" type="none"/>
            <a:tailEnd len="med" w="med" type="triangle"/>
          </a:ln>
        </p:spPr>
      </p:cxnSp>
      <p:sp>
        <p:nvSpPr>
          <p:cNvPr id="321" name="Google Shape;321;p35"/>
          <p:cNvSpPr txBox="1"/>
          <p:nvPr/>
        </p:nvSpPr>
        <p:spPr>
          <a:xfrm>
            <a:off x="5888425" y="1317423"/>
            <a:ext cx="1522200" cy="3849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00"/>
              <a:t>HeatExchanger</a:t>
            </a:r>
            <a:endParaRPr sz="1100"/>
          </a:p>
        </p:txBody>
      </p:sp>
      <p:cxnSp>
        <p:nvCxnSpPr>
          <p:cNvPr id="322" name="Google Shape;322;p35"/>
          <p:cNvCxnSpPr>
            <a:stCxn id="321" idx="2"/>
            <a:endCxn id="316" idx="0"/>
          </p:cNvCxnSpPr>
          <p:nvPr/>
        </p:nvCxnSpPr>
        <p:spPr>
          <a:xfrm>
            <a:off x="6649525" y="1702323"/>
            <a:ext cx="0" cy="381000"/>
          </a:xfrm>
          <a:prstGeom prst="straightConnector1">
            <a:avLst/>
          </a:prstGeom>
          <a:noFill/>
          <a:ln cap="flat" cmpd="sng" w="9525">
            <a:solidFill>
              <a:schemeClr val="dk2"/>
            </a:solidFill>
            <a:prstDash val="solid"/>
            <a:round/>
            <a:headEnd len="med" w="med" type="none"/>
            <a:tailEnd len="med" w="med" type="triangle"/>
          </a:ln>
        </p:spPr>
      </p:cxnSp>
      <p:sp>
        <p:nvSpPr>
          <p:cNvPr id="323" name="Google Shape;323;p35"/>
          <p:cNvSpPr txBox="1"/>
          <p:nvPr/>
        </p:nvSpPr>
        <p:spPr>
          <a:xfrm>
            <a:off x="2562000" y="4083300"/>
            <a:ext cx="1781400" cy="3849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00"/>
              <a:t>s223:AirHandlingUnit</a:t>
            </a:r>
            <a:endParaRPr sz="1100"/>
          </a:p>
        </p:txBody>
      </p:sp>
      <p:sp>
        <p:nvSpPr>
          <p:cNvPr id="324" name="Google Shape;324;p35"/>
          <p:cNvSpPr txBox="1"/>
          <p:nvPr/>
        </p:nvSpPr>
        <p:spPr>
          <a:xfrm>
            <a:off x="4639525" y="4083300"/>
            <a:ext cx="1781400" cy="3849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00"/>
              <a:t>g36</a:t>
            </a:r>
            <a:r>
              <a:rPr lang="en" sz="1300"/>
              <a:t>:AirHandlingUnit</a:t>
            </a:r>
            <a:endParaRPr sz="1100"/>
          </a:p>
        </p:txBody>
      </p:sp>
      <p:sp>
        <p:nvSpPr>
          <p:cNvPr id="325" name="Google Shape;325;p35"/>
          <p:cNvSpPr txBox="1"/>
          <p:nvPr/>
        </p:nvSpPr>
        <p:spPr>
          <a:xfrm>
            <a:off x="655850" y="618825"/>
            <a:ext cx="7135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Any questions about the Equipment shown so far?</a:t>
            </a:r>
            <a:endParaRPr>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6"/>
          <p:cNvSpPr txBox="1"/>
          <p:nvPr>
            <p:ph idx="1" type="body"/>
          </p:nvPr>
        </p:nvSpPr>
        <p:spPr>
          <a:xfrm>
            <a:off x="5827950" y="1177425"/>
            <a:ext cx="2647800" cy="38817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Humidistat</a:t>
            </a:r>
            <a:endParaRPr/>
          </a:p>
          <a:p>
            <a:pPr indent="-342900" lvl="0" marL="457200" rtl="0" algn="l">
              <a:spcBef>
                <a:spcPts val="0"/>
              </a:spcBef>
              <a:spcAft>
                <a:spcPts val="0"/>
              </a:spcAft>
              <a:buSzPts val="1800"/>
              <a:buChar char="●"/>
            </a:pPr>
            <a:r>
              <a:rPr lang="en"/>
              <a:t>Inverter</a:t>
            </a:r>
            <a:endParaRPr/>
          </a:p>
          <a:p>
            <a:pPr indent="-342900" lvl="0" marL="457200" rtl="0" algn="l">
              <a:spcBef>
                <a:spcPts val="0"/>
              </a:spcBef>
              <a:spcAft>
                <a:spcPts val="0"/>
              </a:spcAft>
              <a:buSzPts val="1800"/>
              <a:buChar char="●"/>
            </a:pPr>
            <a:r>
              <a:rPr lang="en"/>
              <a:t>Luminaire</a:t>
            </a:r>
            <a:endParaRPr/>
          </a:p>
          <a:p>
            <a:pPr indent="-342900" lvl="0" marL="457200" rtl="0" algn="l">
              <a:spcBef>
                <a:spcPts val="0"/>
              </a:spcBef>
              <a:spcAft>
                <a:spcPts val="0"/>
              </a:spcAft>
              <a:buSzPts val="1800"/>
              <a:buChar char="●"/>
            </a:pPr>
            <a:r>
              <a:rPr lang="en"/>
              <a:t>Pump</a:t>
            </a:r>
            <a:endParaRPr/>
          </a:p>
          <a:p>
            <a:pPr indent="-342900" lvl="0" marL="457200" rtl="0" algn="l">
              <a:spcBef>
                <a:spcPts val="0"/>
              </a:spcBef>
              <a:spcAft>
                <a:spcPts val="0"/>
              </a:spcAft>
              <a:buSzPts val="1800"/>
              <a:buChar char="●"/>
            </a:pPr>
            <a:r>
              <a:rPr lang="en"/>
              <a:t>RadiantPanel</a:t>
            </a:r>
            <a:endParaRPr/>
          </a:p>
          <a:p>
            <a:pPr indent="-342900" lvl="0" marL="457200" rtl="0" algn="l">
              <a:spcBef>
                <a:spcPts val="0"/>
              </a:spcBef>
              <a:spcAft>
                <a:spcPts val="0"/>
              </a:spcAft>
              <a:buSzPts val="1800"/>
              <a:buChar char="●"/>
            </a:pPr>
            <a:r>
              <a:rPr lang="en"/>
              <a:t>Sensor</a:t>
            </a:r>
            <a:endParaRPr/>
          </a:p>
          <a:p>
            <a:pPr indent="-342900" lvl="0" marL="457200" rtl="0" algn="l">
              <a:spcBef>
                <a:spcPts val="0"/>
              </a:spcBef>
              <a:spcAft>
                <a:spcPts val="0"/>
              </a:spcAft>
              <a:buSzPts val="1800"/>
              <a:buChar char="●"/>
            </a:pPr>
            <a:r>
              <a:rPr lang="en"/>
              <a:t>Thermostat</a:t>
            </a:r>
            <a:endParaRPr/>
          </a:p>
          <a:p>
            <a:pPr indent="-342900" lvl="0" marL="457200" rtl="0" algn="l">
              <a:spcBef>
                <a:spcPts val="0"/>
              </a:spcBef>
              <a:spcAft>
                <a:spcPts val="0"/>
              </a:spcAft>
              <a:buSzPts val="1800"/>
              <a:buChar char="●"/>
            </a:pPr>
            <a:r>
              <a:rPr lang="en"/>
              <a:t>VAVUnit</a:t>
            </a:r>
            <a:endParaRPr/>
          </a:p>
          <a:p>
            <a:pPr indent="-342900" lvl="0" marL="457200" rtl="0" algn="l">
              <a:spcBef>
                <a:spcPts val="0"/>
              </a:spcBef>
              <a:spcAft>
                <a:spcPts val="0"/>
              </a:spcAft>
              <a:buSzPts val="1800"/>
              <a:buChar char="●"/>
            </a:pPr>
            <a:r>
              <a:rPr lang="en"/>
              <a:t>VFD</a:t>
            </a:r>
            <a:endParaRPr/>
          </a:p>
          <a:p>
            <a:pPr indent="-342900" lvl="0" marL="457200" rtl="0" algn="l">
              <a:spcBef>
                <a:spcPts val="0"/>
              </a:spcBef>
              <a:spcAft>
                <a:spcPts val="0"/>
              </a:spcAft>
              <a:buSzPts val="1800"/>
              <a:buChar char="●"/>
            </a:pPr>
            <a:r>
              <a:rPr lang="en"/>
              <a:t>Valve</a:t>
            </a:r>
            <a:endParaRPr/>
          </a:p>
          <a:p>
            <a:pPr indent="-342900" lvl="0" marL="457200" rtl="0" algn="l">
              <a:spcBef>
                <a:spcPts val="0"/>
              </a:spcBef>
              <a:spcAft>
                <a:spcPts val="0"/>
              </a:spcAft>
              <a:buSzPts val="1800"/>
              <a:buChar char="●"/>
            </a:pPr>
            <a:r>
              <a:rPr lang="en"/>
              <a:t>Window</a:t>
            </a:r>
            <a:endParaRPr/>
          </a:p>
          <a:p>
            <a:pPr indent="-342900" lvl="0" marL="457200" rtl="0" algn="l">
              <a:spcBef>
                <a:spcPts val="0"/>
              </a:spcBef>
              <a:spcAft>
                <a:spcPts val="0"/>
              </a:spcAft>
              <a:buSzPts val="1800"/>
              <a:buChar char="●"/>
            </a:pPr>
            <a:r>
              <a:rPr lang="en"/>
              <a:t>WindowShade</a:t>
            </a:r>
            <a:endParaRPr/>
          </a:p>
        </p:txBody>
      </p:sp>
      <p:sp>
        <p:nvSpPr>
          <p:cNvPr id="331" name="Google Shape;331;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Equip List</a:t>
            </a:r>
            <a:endParaRPr/>
          </a:p>
        </p:txBody>
      </p:sp>
      <p:sp>
        <p:nvSpPr>
          <p:cNvPr id="332" name="Google Shape;332;p36"/>
          <p:cNvSpPr txBox="1"/>
          <p:nvPr>
            <p:ph idx="1" type="body"/>
          </p:nvPr>
        </p:nvSpPr>
        <p:spPr>
          <a:xfrm>
            <a:off x="668250" y="1177425"/>
            <a:ext cx="2511900" cy="38817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Actuator</a:t>
            </a:r>
            <a:endParaRPr/>
          </a:p>
          <a:p>
            <a:pPr indent="-342900" lvl="0" marL="457200" rtl="0" algn="l">
              <a:spcBef>
                <a:spcPts val="0"/>
              </a:spcBef>
              <a:spcAft>
                <a:spcPts val="0"/>
              </a:spcAft>
              <a:buSzPts val="1800"/>
              <a:buChar char="●"/>
            </a:pPr>
            <a:r>
              <a:rPr lang="en"/>
              <a:t>AirHandlingUnit</a:t>
            </a:r>
            <a:endParaRPr/>
          </a:p>
          <a:p>
            <a:pPr indent="-342900" lvl="0" marL="457200" rtl="0" algn="l">
              <a:spcBef>
                <a:spcPts val="0"/>
              </a:spcBef>
              <a:spcAft>
                <a:spcPts val="0"/>
              </a:spcAft>
              <a:buSzPts val="1800"/>
              <a:buChar char="●"/>
            </a:pPr>
            <a:r>
              <a:rPr lang="en"/>
              <a:t>Battery</a:t>
            </a:r>
            <a:endParaRPr/>
          </a:p>
          <a:p>
            <a:pPr indent="-342900" lvl="0" marL="457200" rtl="0" algn="l">
              <a:spcBef>
                <a:spcPts val="0"/>
              </a:spcBef>
              <a:spcAft>
                <a:spcPts val="0"/>
              </a:spcAft>
              <a:buSzPts val="1800"/>
              <a:buChar char="●"/>
            </a:pPr>
            <a:r>
              <a:rPr lang="en"/>
              <a:t>Boiler</a:t>
            </a:r>
            <a:endParaRPr/>
          </a:p>
          <a:p>
            <a:pPr indent="-342900" lvl="0" marL="457200" rtl="0" algn="l">
              <a:spcBef>
                <a:spcPts val="0"/>
              </a:spcBef>
              <a:spcAft>
                <a:spcPts val="0"/>
              </a:spcAft>
              <a:buSzPts val="1800"/>
              <a:buChar char="●"/>
            </a:pPr>
            <a:r>
              <a:rPr lang="en"/>
              <a:t>Chiller</a:t>
            </a:r>
            <a:endParaRPr/>
          </a:p>
          <a:p>
            <a:pPr indent="-342900" lvl="0" marL="457200" rtl="0" algn="l">
              <a:spcBef>
                <a:spcPts val="0"/>
              </a:spcBef>
              <a:spcAft>
                <a:spcPts val="0"/>
              </a:spcAft>
              <a:buSzPts val="1800"/>
              <a:buChar char="●"/>
            </a:pPr>
            <a:r>
              <a:rPr lang="en"/>
              <a:t>Coil</a:t>
            </a:r>
            <a:endParaRPr/>
          </a:p>
          <a:p>
            <a:pPr indent="-342900" lvl="0" marL="457200" rtl="0" algn="l">
              <a:spcBef>
                <a:spcPts val="0"/>
              </a:spcBef>
              <a:spcAft>
                <a:spcPts val="0"/>
              </a:spcAft>
              <a:buSzPts val="1800"/>
              <a:buChar char="●"/>
            </a:pPr>
            <a:r>
              <a:rPr lang="en"/>
              <a:t>HeatingCoil</a:t>
            </a:r>
            <a:endParaRPr/>
          </a:p>
          <a:p>
            <a:pPr indent="-342900" lvl="0" marL="457200" rtl="0" algn="l">
              <a:spcBef>
                <a:spcPts val="0"/>
              </a:spcBef>
              <a:spcAft>
                <a:spcPts val="0"/>
              </a:spcAft>
              <a:buSzPts val="1800"/>
              <a:buChar char="●"/>
            </a:pPr>
            <a:r>
              <a:rPr lang="en"/>
              <a:t>CoolingCoil</a:t>
            </a:r>
            <a:endParaRPr/>
          </a:p>
          <a:p>
            <a:pPr indent="-342900" lvl="0" marL="457200" rtl="0" algn="l">
              <a:spcBef>
                <a:spcPts val="0"/>
              </a:spcBef>
              <a:spcAft>
                <a:spcPts val="0"/>
              </a:spcAft>
              <a:buSzPts val="1800"/>
              <a:buChar char="●"/>
            </a:pPr>
            <a:r>
              <a:rPr lang="en"/>
              <a:t>Compressor</a:t>
            </a:r>
            <a:endParaRPr/>
          </a:p>
          <a:p>
            <a:pPr indent="-342900" lvl="0" marL="457200" rtl="0" algn="l">
              <a:spcBef>
                <a:spcPts val="0"/>
              </a:spcBef>
              <a:spcAft>
                <a:spcPts val="0"/>
              </a:spcAft>
              <a:buSzPts val="1800"/>
              <a:buChar char="●"/>
            </a:pPr>
            <a:r>
              <a:rPr lang="en"/>
              <a:t>Controller</a:t>
            </a:r>
            <a:endParaRPr/>
          </a:p>
          <a:p>
            <a:pPr indent="-342900" lvl="0" marL="457200" rtl="0" algn="l">
              <a:spcBef>
                <a:spcPts val="0"/>
              </a:spcBef>
              <a:spcAft>
                <a:spcPts val="0"/>
              </a:spcAft>
              <a:buSzPts val="1800"/>
              <a:buChar char="●"/>
            </a:pPr>
            <a:r>
              <a:rPr lang="en"/>
              <a:t>Damper</a:t>
            </a:r>
            <a:endParaRPr/>
          </a:p>
          <a:p>
            <a:pPr indent="-342900" lvl="0" marL="457200" rtl="0" algn="l">
              <a:spcBef>
                <a:spcPts val="0"/>
              </a:spcBef>
              <a:spcAft>
                <a:spcPts val="0"/>
              </a:spcAft>
              <a:buSzPts val="1800"/>
              <a:buChar char="●"/>
            </a:pPr>
            <a:r>
              <a:rPr lang="en"/>
              <a:t>DifferentialSensor</a:t>
            </a:r>
            <a:endParaRPr/>
          </a:p>
        </p:txBody>
      </p:sp>
      <p:sp>
        <p:nvSpPr>
          <p:cNvPr id="333" name="Google Shape;333;p36"/>
          <p:cNvSpPr txBox="1"/>
          <p:nvPr>
            <p:ph idx="1" type="body"/>
          </p:nvPr>
        </p:nvSpPr>
        <p:spPr>
          <a:xfrm>
            <a:off x="3180150" y="1177425"/>
            <a:ext cx="2647800" cy="38817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Door</a:t>
            </a:r>
            <a:endParaRPr/>
          </a:p>
          <a:p>
            <a:pPr indent="-342900" lvl="0" marL="457200" rtl="0" algn="l">
              <a:spcBef>
                <a:spcPts val="0"/>
              </a:spcBef>
              <a:spcAft>
                <a:spcPts val="0"/>
              </a:spcAft>
              <a:buSzPts val="1800"/>
              <a:buChar char="●"/>
            </a:pPr>
            <a:r>
              <a:rPr lang="en"/>
              <a:t>Economizer</a:t>
            </a:r>
            <a:endParaRPr/>
          </a:p>
          <a:p>
            <a:pPr indent="-342900" lvl="0" marL="457200" rtl="0" algn="l">
              <a:spcBef>
                <a:spcPts val="0"/>
              </a:spcBef>
              <a:spcAft>
                <a:spcPts val="0"/>
              </a:spcAft>
              <a:buSzPts val="1800"/>
              <a:buChar char="●"/>
            </a:pPr>
            <a:r>
              <a:rPr lang="en"/>
              <a:t>ElectricBreaker</a:t>
            </a:r>
            <a:endParaRPr/>
          </a:p>
          <a:p>
            <a:pPr indent="-342900" lvl="0" marL="457200" rtl="0" algn="l">
              <a:spcBef>
                <a:spcPts val="0"/>
              </a:spcBef>
              <a:spcAft>
                <a:spcPts val="0"/>
              </a:spcAft>
              <a:buSzPts val="1800"/>
              <a:buChar char="●"/>
            </a:pPr>
            <a:r>
              <a:rPr lang="en"/>
              <a:t>ElectricMeter</a:t>
            </a:r>
            <a:endParaRPr/>
          </a:p>
          <a:p>
            <a:pPr indent="-342900" lvl="0" marL="457200" rtl="0" algn="l">
              <a:spcBef>
                <a:spcPts val="0"/>
              </a:spcBef>
              <a:spcAft>
                <a:spcPts val="0"/>
              </a:spcAft>
              <a:buSzPts val="1800"/>
              <a:buChar char="●"/>
            </a:pPr>
            <a:r>
              <a:rPr lang="en"/>
              <a:t>ElectricOutlet</a:t>
            </a:r>
            <a:endParaRPr/>
          </a:p>
          <a:p>
            <a:pPr indent="-342900" lvl="0" marL="457200" rtl="0" algn="l">
              <a:spcBef>
                <a:spcPts val="0"/>
              </a:spcBef>
              <a:spcAft>
                <a:spcPts val="0"/>
              </a:spcAft>
              <a:buSzPts val="1800"/>
              <a:buChar char="●"/>
            </a:pPr>
            <a:r>
              <a:rPr lang="en"/>
              <a:t>ElectricTransformer</a:t>
            </a:r>
            <a:endParaRPr/>
          </a:p>
          <a:p>
            <a:pPr indent="-342900" lvl="0" marL="457200" rtl="0" algn="l">
              <a:spcBef>
                <a:spcPts val="0"/>
              </a:spcBef>
              <a:spcAft>
                <a:spcPts val="0"/>
              </a:spcAft>
              <a:buSzPts val="1800"/>
              <a:buChar char="●"/>
            </a:pPr>
            <a:r>
              <a:rPr lang="en"/>
              <a:t>Fan</a:t>
            </a:r>
            <a:endParaRPr/>
          </a:p>
          <a:p>
            <a:pPr indent="-342900" lvl="0" marL="457200" rtl="0" algn="l">
              <a:spcBef>
                <a:spcPts val="0"/>
              </a:spcBef>
              <a:spcAft>
                <a:spcPts val="0"/>
              </a:spcAft>
              <a:buSzPts val="1800"/>
              <a:buChar char="●"/>
            </a:pPr>
            <a:r>
              <a:rPr lang="en"/>
              <a:t>Filter</a:t>
            </a:r>
            <a:endParaRPr/>
          </a:p>
          <a:p>
            <a:pPr indent="-342900" lvl="0" marL="457200" rtl="0" algn="l">
              <a:spcBef>
                <a:spcPts val="0"/>
              </a:spcBef>
              <a:spcAft>
                <a:spcPts val="0"/>
              </a:spcAft>
              <a:buSzPts val="1800"/>
              <a:buChar char="●"/>
            </a:pPr>
            <a:r>
              <a:rPr lang="en"/>
              <a:t>Furnace</a:t>
            </a:r>
            <a:endParaRPr/>
          </a:p>
          <a:p>
            <a:pPr indent="-342900" lvl="0" marL="457200" rtl="0" algn="l">
              <a:spcBef>
                <a:spcPts val="0"/>
              </a:spcBef>
              <a:spcAft>
                <a:spcPts val="0"/>
              </a:spcAft>
              <a:buSzPts val="1800"/>
              <a:buChar char="●"/>
            </a:pPr>
            <a:r>
              <a:rPr lang="en"/>
              <a:t>HeatExchanger</a:t>
            </a:r>
            <a:endParaRPr/>
          </a:p>
          <a:p>
            <a:pPr indent="-342900" lvl="0" marL="457200" rtl="0" algn="l">
              <a:spcBef>
                <a:spcPts val="0"/>
              </a:spcBef>
              <a:spcAft>
                <a:spcPts val="0"/>
              </a:spcAft>
              <a:buSzPts val="1800"/>
              <a:buChar char="●"/>
            </a:pPr>
            <a:r>
              <a:rPr lang="en"/>
              <a:t>HeatPump</a:t>
            </a:r>
            <a:endParaRPr/>
          </a:p>
          <a:p>
            <a:pPr indent="-342900" lvl="0" marL="457200" rtl="0" algn="l">
              <a:spcBef>
                <a:spcPts val="0"/>
              </a:spcBef>
              <a:spcAft>
                <a:spcPts val="0"/>
              </a:spcAft>
              <a:buSzPts val="1800"/>
              <a:buChar char="●"/>
            </a:pPr>
            <a:r>
              <a:rPr lang="en"/>
              <a:t>Humidifier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7"/>
          <p:cNvSpPr txBox="1"/>
          <p:nvPr>
            <p:ph idx="1" type="body"/>
          </p:nvPr>
        </p:nvSpPr>
        <p:spPr>
          <a:xfrm>
            <a:off x="1797700" y="1177425"/>
            <a:ext cx="2901000" cy="38817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ConcentrationSensor</a:t>
            </a:r>
            <a:endParaRPr/>
          </a:p>
          <a:p>
            <a:pPr indent="-342900" lvl="0" marL="457200" rtl="0" algn="l">
              <a:spcBef>
                <a:spcPts val="0"/>
              </a:spcBef>
              <a:spcAft>
                <a:spcPts val="0"/>
              </a:spcAft>
              <a:buSzPts val="1800"/>
              <a:buChar char="●"/>
            </a:pPr>
            <a:r>
              <a:rPr lang="en"/>
              <a:t>CorrelatedColor TemperatureSensor</a:t>
            </a:r>
            <a:endParaRPr/>
          </a:p>
          <a:p>
            <a:pPr indent="-342900" lvl="0" marL="457200" rtl="0" algn="l">
              <a:spcBef>
                <a:spcPts val="0"/>
              </a:spcBef>
              <a:spcAft>
                <a:spcPts val="0"/>
              </a:spcAft>
              <a:buSzPts val="1800"/>
              <a:buChar char="●"/>
            </a:pPr>
            <a:r>
              <a:rPr lang="en"/>
              <a:t>DuvSensor</a:t>
            </a:r>
            <a:endParaRPr/>
          </a:p>
          <a:p>
            <a:pPr indent="-342900" lvl="0" marL="457200" rtl="0" algn="l">
              <a:spcBef>
                <a:spcPts val="0"/>
              </a:spcBef>
              <a:spcAft>
                <a:spcPts val="0"/>
              </a:spcAft>
              <a:buSzPts val="1800"/>
              <a:buChar char="●"/>
            </a:pPr>
            <a:r>
              <a:rPr lang="en"/>
              <a:t>FlowEquipment</a:t>
            </a:r>
            <a:endParaRPr/>
          </a:p>
          <a:p>
            <a:pPr indent="-342900" lvl="0" marL="457200" rtl="0" algn="l">
              <a:spcBef>
                <a:spcPts val="0"/>
              </a:spcBef>
              <a:spcAft>
                <a:spcPts val="0"/>
              </a:spcAft>
              <a:buSzPts val="1800"/>
              <a:buChar char="●"/>
            </a:pPr>
            <a:r>
              <a:rPr lang="en"/>
              <a:t>FlowSensor</a:t>
            </a:r>
            <a:endParaRPr/>
          </a:p>
          <a:p>
            <a:pPr indent="-342900" lvl="0" marL="457200" rtl="0" algn="l">
              <a:spcBef>
                <a:spcPts val="0"/>
              </a:spcBef>
              <a:spcAft>
                <a:spcPts val="0"/>
              </a:spcAft>
              <a:buSzPts val="1800"/>
              <a:buChar char="●"/>
            </a:pPr>
            <a:r>
              <a:rPr lang="en"/>
              <a:t>HumiditySensor</a:t>
            </a:r>
            <a:endParaRPr/>
          </a:p>
          <a:p>
            <a:pPr indent="-342900" lvl="0" marL="457200" rtl="0" algn="l">
              <a:spcBef>
                <a:spcPts val="0"/>
              </a:spcBef>
              <a:spcAft>
                <a:spcPts val="0"/>
              </a:spcAft>
              <a:buSzPts val="1800"/>
              <a:buChar char="●"/>
            </a:pPr>
            <a:r>
              <a:rPr lang="en"/>
              <a:t>IlluminanceSensor</a:t>
            </a:r>
            <a:endParaRPr/>
          </a:p>
          <a:p>
            <a:pPr indent="-342900" lvl="0" marL="457200" rtl="0" algn="l">
              <a:spcBef>
                <a:spcPts val="0"/>
              </a:spcBef>
              <a:spcAft>
                <a:spcPts val="0"/>
              </a:spcAft>
              <a:buSzPts val="1800"/>
              <a:buChar char="●"/>
            </a:pPr>
            <a:r>
              <a:rPr lang="en"/>
              <a:t>LightSensor</a:t>
            </a:r>
            <a:endParaRPr/>
          </a:p>
          <a:p>
            <a:pPr indent="-342900" lvl="0" marL="457200" rtl="0" algn="l">
              <a:spcBef>
                <a:spcPts val="0"/>
              </a:spcBef>
              <a:spcAft>
                <a:spcPts val="0"/>
              </a:spcAft>
              <a:buSzPts val="1800"/>
              <a:buChar char="●"/>
            </a:pPr>
            <a:r>
              <a:rPr lang="en"/>
              <a:t>OccupancySensor</a:t>
            </a:r>
            <a:endParaRPr/>
          </a:p>
          <a:p>
            <a:pPr indent="-342900" lvl="0" marL="457200" rtl="0" algn="l">
              <a:spcBef>
                <a:spcPts val="0"/>
              </a:spcBef>
              <a:spcAft>
                <a:spcPts val="0"/>
              </a:spcAft>
              <a:buSzPts val="1800"/>
              <a:buChar char="●"/>
            </a:pPr>
            <a:r>
              <a:rPr lang="en"/>
              <a:t>OccupantPresence Sensor</a:t>
            </a:r>
            <a:endParaRPr/>
          </a:p>
        </p:txBody>
      </p:sp>
      <p:sp>
        <p:nvSpPr>
          <p:cNvPr id="339" name="Google Shape;339;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Equip List cont …</a:t>
            </a:r>
            <a:endParaRPr/>
          </a:p>
        </p:txBody>
      </p:sp>
      <p:sp>
        <p:nvSpPr>
          <p:cNvPr id="340" name="Google Shape;340;p37"/>
          <p:cNvSpPr txBox="1"/>
          <p:nvPr>
            <p:ph idx="1" type="body"/>
          </p:nvPr>
        </p:nvSpPr>
        <p:spPr>
          <a:xfrm>
            <a:off x="4698500" y="1177425"/>
            <a:ext cx="2647800" cy="3881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ParticulateSensor</a:t>
            </a:r>
            <a:endParaRPr/>
          </a:p>
          <a:p>
            <a:pPr indent="-342900" lvl="0" marL="457200" rtl="0" algn="l">
              <a:spcBef>
                <a:spcPts val="0"/>
              </a:spcBef>
              <a:spcAft>
                <a:spcPts val="0"/>
              </a:spcAft>
              <a:buSzPts val="1800"/>
              <a:buChar char="●"/>
            </a:pPr>
            <a:r>
              <a:rPr lang="en"/>
              <a:t>PressureSensor</a:t>
            </a:r>
            <a:endParaRPr/>
          </a:p>
          <a:p>
            <a:pPr indent="-342900" lvl="0" marL="457200" rtl="0" algn="l">
              <a:spcBef>
                <a:spcPts val="0"/>
              </a:spcBef>
              <a:spcAft>
                <a:spcPts val="0"/>
              </a:spcAft>
              <a:buSzPts val="1800"/>
              <a:buChar char="●"/>
            </a:pPr>
            <a:r>
              <a:rPr lang="en"/>
              <a:t>TemperatureSensor</a:t>
            </a:r>
            <a:endParaRPr/>
          </a:p>
          <a:p>
            <a:pPr indent="-342900" lvl="0" marL="457200" rtl="0" algn="l">
              <a:spcBef>
                <a:spcPts val="0"/>
              </a:spcBef>
              <a:spcAft>
                <a:spcPts val="0"/>
              </a:spcAft>
              <a:buSzPts val="1800"/>
              <a:buChar char="●"/>
            </a:pPr>
            <a:r>
              <a:rPr lang="en"/>
              <a:t>ThreeWayValve</a:t>
            </a:r>
            <a:endParaRPr/>
          </a:p>
          <a:p>
            <a:pPr indent="-342900" lvl="0" marL="457200" rtl="0" algn="l">
              <a:spcBef>
                <a:spcPts val="0"/>
              </a:spcBef>
              <a:spcAft>
                <a:spcPts val="0"/>
              </a:spcAft>
              <a:buSzPts val="1800"/>
              <a:buChar char="●"/>
            </a:pPr>
            <a:r>
              <a:rPr lang="en"/>
              <a:t>TwoWayValve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