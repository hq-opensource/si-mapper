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65" r:id="rId3"/>
    <p:sldId id="267" r:id="rId4"/>
    <p:sldId id="266" r:id="rId5"/>
    <p:sldId id="268" r:id="rId6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len J. Jones" initials="AJJ" lastIdx="3" clrIdx="0">
    <p:extLst>
      <p:ext uri="{19B8F6BF-5375-455C-9EA6-DF929625EA0E}">
        <p15:presenceInfo xmlns:p15="http://schemas.microsoft.com/office/powerpoint/2012/main" userId="Allen J. Jone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97" autoAdjust="0"/>
    <p:restoredTop sz="95226" autoAdjust="0"/>
  </p:normalViewPr>
  <p:slideViewPr>
    <p:cSldViewPr>
      <p:cViewPr varScale="1">
        <p:scale>
          <a:sx n="210" d="100"/>
          <a:sy n="210" d="100"/>
        </p:scale>
        <p:origin x="1160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9" d="100"/>
        <a:sy n="39" d="100"/>
      </p:scale>
      <p:origin x="0" y="-42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853EC2E-DFAA-4928-B94F-9BE02642FD1C}" type="datetimeFigureOut">
              <a:rPr lang="en-US" smtClean="0"/>
              <a:pPr/>
              <a:t>9/24/20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1D9E0BF-8E80-4D11-8BD3-F92F9765C45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833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D9E0BF-8E80-4D11-8BD3-F92F9765C45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334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6AEF1FE-47DC-4EA1-B2CE-838FE9D05CCF}" type="datetimeFigureOut">
              <a:rPr lang="en-US" smtClean="0"/>
              <a:pPr/>
              <a:t>9/24/20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9FAD2DA-7FAC-40B4-A442-F8491AFE80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EF1FE-47DC-4EA1-B2CE-838FE9D05CCF}" type="datetimeFigureOut">
              <a:rPr lang="en-US" smtClean="0"/>
              <a:pPr/>
              <a:t>9/24/20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AD2DA-7FAC-40B4-A442-F8491AFE805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EF1FE-47DC-4EA1-B2CE-838FE9D05CCF}" type="datetimeFigureOut">
              <a:rPr lang="en-US" smtClean="0"/>
              <a:pPr/>
              <a:t>9/24/20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AD2DA-7FAC-40B4-A442-F8491AFE805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EF1FE-47DC-4EA1-B2CE-838FE9D05CCF}" type="datetimeFigureOut">
              <a:rPr lang="en-US" smtClean="0"/>
              <a:pPr/>
              <a:t>9/24/20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AD2DA-7FAC-40B4-A442-F8491AFE805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EF1FE-47DC-4EA1-B2CE-838FE9D05CCF}" type="datetimeFigureOut">
              <a:rPr lang="en-US" smtClean="0"/>
              <a:pPr/>
              <a:t>9/24/20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AD2DA-7FAC-40B4-A442-F8491AFE80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EF1FE-47DC-4EA1-B2CE-838FE9D05CCF}" type="datetimeFigureOut">
              <a:rPr lang="en-US" smtClean="0"/>
              <a:pPr/>
              <a:t>9/24/20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AD2DA-7FAC-40B4-A442-F8491AFE805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EF1FE-47DC-4EA1-B2CE-838FE9D05CCF}" type="datetimeFigureOut">
              <a:rPr lang="en-US" smtClean="0"/>
              <a:pPr/>
              <a:t>9/24/20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AD2DA-7FAC-40B4-A442-F8491AFE80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36AEF1FE-47DC-4EA1-B2CE-838FE9D05CCF}" type="datetimeFigureOut">
              <a:rPr lang="en-US" smtClean="0"/>
              <a:pPr/>
              <a:t>9/24/20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AD2DA-7FAC-40B4-A442-F8491AFE80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6AEF1FE-47DC-4EA1-B2CE-838FE9D05CCF}" type="datetimeFigureOut">
              <a:rPr lang="en-US" smtClean="0"/>
              <a:pPr/>
              <a:t>9/24/20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9FAD2DA-7FAC-40B4-A442-F8491AFE805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EF1FE-47DC-4EA1-B2CE-838FE9D05CCF}" type="datetimeFigureOut">
              <a:rPr lang="en-US" smtClean="0"/>
              <a:pPr/>
              <a:t>9/24/20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AD2DA-7FAC-40B4-A442-F8491AFE80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EF1FE-47DC-4EA1-B2CE-838FE9D05CCF}" type="datetimeFigureOut">
              <a:rPr lang="en-US" smtClean="0"/>
              <a:pPr/>
              <a:t>9/24/20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AD2DA-7FAC-40B4-A442-F8491AFE80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36AEF1FE-47DC-4EA1-B2CE-838FE9D05CCF}" type="datetimeFigureOut">
              <a:rPr lang="en-US" smtClean="0"/>
              <a:pPr/>
              <a:t>9/24/20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59FAD2DA-7FAC-40B4-A442-F8491AFE805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teve@steveray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ashrae223.org/1.0/vocab" TargetMode="External"/><Relationship Id="rId2" Type="http://schemas.openxmlformats.org/officeDocument/2006/relationships/hyperlink" Target="http://ashrae223.org/1.0/schema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ashrae223.org/1.0/schema" TargetMode="External"/><Relationship Id="rId2" Type="http://schemas.openxmlformats.org/officeDocument/2006/relationships/hyperlink" Target="http://ashrae223.org/1.0/connectio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800"/>
            <a:ext cx="7772400" cy="1829761"/>
          </a:xfrm>
        </p:spPr>
        <p:txBody>
          <a:bodyPr/>
          <a:lstStyle/>
          <a:p>
            <a:r>
              <a:rPr lang="en-US" dirty="0"/>
              <a:t>Proposed Model Conventions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971800"/>
            <a:ext cx="7772400" cy="281940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Steve Ray</a:t>
            </a:r>
          </a:p>
          <a:p>
            <a:r>
              <a:rPr lang="en-US" dirty="0">
                <a:hlinkClick r:id="rId3"/>
              </a:rPr>
              <a:t>steve@steveray.com</a:t>
            </a:r>
            <a:endParaRPr lang="en-US" dirty="0"/>
          </a:p>
          <a:p>
            <a:endParaRPr lang="en-US" dirty="0"/>
          </a:p>
          <a:p>
            <a:r>
              <a:rPr lang="en-US" dirty="0"/>
              <a:t>September 25, 2020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2A81E-8B57-1442-8526-514812E85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infrastructure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37D87-56B4-5D46-8397-8187C6B58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dedicated repository for our “working” model</a:t>
            </a:r>
          </a:p>
          <a:p>
            <a:r>
              <a:rPr lang="en-US" dirty="0"/>
              <a:t>A folder structure</a:t>
            </a:r>
          </a:p>
          <a:p>
            <a:pPr lvl="1"/>
            <a:r>
              <a:rPr lang="en-US" dirty="0"/>
              <a:t>schema 	- To contain all our model files</a:t>
            </a:r>
          </a:p>
          <a:p>
            <a:pPr lvl="1"/>
            <a:r>
              <a:rPr lang="en-US" dirty="0"/>
              <a:t>vocab 	- To contain any instance files</a:t>
            </a:r>
          </a:p>
          <a:p>
            <a:pPr lvl="1"/>
            <a:r>
              <a:rPr lang="en-US" dirty="0"/>
              <a:t>doc 	- To contain supporting documentation</a:t>
            </a:r>
          </a:p>
          <a:p>
            <a:pPr lvl="1"/>
            <a:r>
              <a:rPr lang="en-US" dirty="0"/>
              <a:t>imports 	- To contain the external standards that we're integrating with.</a:t>
            </a:r>
          </a:p>
          <a:p>
            <a:pPr marL="393192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022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2A81E-8B57-1442-8526-514812E85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naming convention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37D87-56B4-5D46-8397-8187C6B58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files should be named as follows:</a:t>
            </a:r>
          </a:p>
          <a:p>
            <a:pPr lvl="1"/>
            <a:r>
              <a:rPr lang="en-US" sz="1400" dirty="0"/>
              <a:t>[DIRECTORY_CONTENT_TYPE]_[PROJECT_[Domain-Path]*]_[Domain]-</a:t>
            </a:r>
            <a:r>
              <a:rPr lang="en-US" sz="1400" dirty="0" err="1"/>
              <a:t>version.format</a:t>
            </a:r>
            <a:endParaRPr lang="en-US" sz="1400" dirty="0"/>
          </a:p>
          <a:p>
            <a:pPr marL="393192" lvl="1" indent="0">
              <a:buNone/>
            </a:pPr>
            <a:r>
              <a:rPr lang="en-US" dirty="0"/>
              <a:t>e.g.</a:t>
            </a:r>
          </a:p>
          <a:p>
            <a:pPr marL="393192" lvl="1" indent="0">
              <a:buNone/>
            </a:pPr>
            <a:endParaRPr lang="en-US" dirty="0"/>
          </a:p>
          <a:p>
            <a:pPr marL="393192" lvl="1" indent="0">
              <a:buNone/>
            </a:pPr>
            <a:r>
              <a:rPr lang="en-US" dirty="0"/>
              <a:t>SCHEMA_SP223_connections-v1.0.ttl</a:t>
            </a:r>
          </a:p>
          <a:p>
            <a:pPr marL="393192" lvl="1" indent="0">
              <a:buNone/>
            </a:pPr>
            <a:r>
              <a:rPr lang="en-US" dirty="0"/>
              <a:t>VOCAB_SP223_units-v1.2.ttl</a:t>
            </a:r>
          </a:p>
          <a:p>
            <a:pPr marL="393192" lvl="1" indent="0">
              <a:buNone/>
            </a:pPr>
            <a:endParaRPr lang="en-US" dirty="0"/>
          </a:p>
          <a:p>
            <a:pPr lvl="1"/>
            <a:r>
              <a:rPr lang="en-US" sz="1800" dirty="0"/>
              <a:t>We may choose to manage different parts of the schema using separate files, even when the classes share the same namespace (prefix).</a:t>
            </a:r>
          </a:p>
          <a:p>
            <a:pPr lvl="1"/>
            <a:r>
              <a:rPr lang="en-US" sz="1800" dirty="0"/>
              <a:t>Each file has a unique base URI, but can contain class definitions for classes in other namespaces (prefixes).</a:t>
            </a:r>
          </a:p>
          <a:p>
            <a:pPr marL="393192" lvl="1" indent="0">
              <a:buNone/>
            </a:pPr>
            <a:endParaRPr lang="en-US" dirty="0"/>
          </a:p>
          <a:p>
            <a:pPr marL="393192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27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2A81E-8B57-1442-8526-514812E85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Prefixes &amp; URIs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37D87-56B4-5D46-8397-8187C6B58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s223 for the main schema URI</a:t>
            </a:r>
          </a:p>
          <a:p>
            <a:pPr lvl="1"/>
            <a:r>
              <a:rPr lang="en-US" dirty="0">
                <a:hlinkClick r:id="rId2"/>
              </a:rPr>
              <a:t>http://ashrae223.org/1.0/schema</a:t>
            </a:r>
            <a:endParaRPr lang="en-US" dirty="0"/>
          </a:p>
          <a:p>
            <a:r>
              <a:rPr lang="en-US" dirty="0"/>
              <a:t>v223 for the main vocabulary URI, if needed</a:t>
            </a:r>
          </a:p>
          <a:p>
            <a:pPr lvl="1"/>
            <a:r>
              <a:rPr lang="en-US" dirty="0">
                <a:hlinkClick r:id="rId3"/>
              </a:rPr>
              <a:t>http://ashrae223.org/1.0/vocab</a:t>
            </a:r>
            <a:endParaRPr lang="en-US" dirty="0"/>
          </a:p>
          <a:p>
            <a:r>
              <a:rPr lang="en-US" dirty="0"/>
              <a:t>Others as the need arises</a:t>
            </a:r>
          </a:p>
          <a:p>
            <a:r>
              <a:rPr lang="en-US" dirty="0"/>
              <a:t>Versioning</a:t>
            </a:r>
          </a:p>
          <a:p>
            <a:pPr lvl="1"/>
            <a:r>
              <a:rPr lang="en-US" sz="2400" dirty="0"/>
              <a:t>Given a version number </a:t>
            </a:r>
            <a:r>
              <a:rPr lang="en-US" sz="2400" b="1" dirty="0"/>
              <a:t>MAJOR.MINOR</a:t>
            </a:r>
            <a:r>
              <a:rPr lang="en-US" sz="2400" dirty="0"/>
              <a:t>, increment the:</a:t>
            </a:r>
          </a:p>
          <a:p>
            <a:pPr lvl="2"/>
            <a:r>
              <a:rPr lang="en-US" sz="2200" dirty="0"/>
              <a:t>MAJOR version when you make incompatible changes,</a:t>
            </a:r>
          </a:p>
          <a:p>
            <a:pPr lvl="3"/>
            <a:r>
              <a:rPr lang="en-US" sz="1500" dirty="0"/>
              <a:t>Any changes in a file, e.g., class name, property name</a:t>
            </a:r>
          </a:p>
          <a:p>
            <a:pPr lvl="2"/>
            <a:r>
              <a:rPr lang="en-US" sz="2200" dirty="0"/>
              <a:t>MINOR version when you add functionality in a backwards compatible manner</a:t>
            </a:r>
          </a:p>
          <a:p>
            <a:pPr lvl="3"/>
            <a:r>
              <a:rPr lang="en-US" sz="1500" dirty="0"/>
              <a:t>Add new classes, new properties, new restrictions to a vocab file</a:t>
            </a:r>
          </a:p>
        </p:txBody>
      </p:sp>
    </p:spTree>
    <p:extLst>
      <p:ext uri="{BB962C8B-B14F-4D97-AF65-F5344CB8AC3E}">
        <p14:creationId xmlns:p14="http://schemas.microsoft.com/office/powerpoint/2010/main" val="4089384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2A81E-8B57-1442-8526-514812E85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Pulling it all together</a:t>
            </a:r>
            <a:br>
              <a:rPr lang="en-US" dirty="0"/>
            </a:br>
            <a:r>
              <a:rPr lang="en-US" sz="2000" dirty="0"/>
              <a:t>File, </a:t>
            </a:r>
            <a:r>
              <a:rPr lang="en-US" sz="2000" dirty="0" err="1"/>
              <a:t>BaseURI</a:t>
            </a:r>
            <a:r>
              <a:rPr lang="en-US" sz="2000" dirty="0"/>
              <a:t>, Prefix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37D87-56B4-5D46-8397-8187C6B58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sz="1600" dirty="0"/>
              <a:t>SCHEMA_SP223_connections-v1.0.ttl</a:t>
            </a:r>
          </a:p>
          <a:p>
            <a:pPr lvl="1"/>
            <a:r>
              <a:rPr lang="en-US" sz="1100" dirty="0"/>
              <a:t>Base URI: </a:t>
            </a:r>
            <a:r>
              <a:rPr lang="en-US" sz="1100" dirty="0">
                <a:hlinkClick r:id="rId2"/>
              </a:rPr>
              <a:t>http://ashrae223.org/1.0/connection</a:t>
            </a:r>
            <a:endParaRPr lang="en-US" sz="1100" dirty="0"/>
          </a:p>
          <a:p>
            <a:pPr lvl="1"/>
            <a:r>
              <a:rPr lang="en-US" sz="1100" dirty="0"/>
              <a:t>Prefix: s223c for base URI = </a:t>
            </a:r>
            <a:r>
              <a:rPr lang="en-US" sz="1100" dirty="0">
                <a:hlinkClick r:id="rId2"/>
              </a:rPr>
              <a:t>http://ashrae223.org/1.0/connection</a:t>
            </a:r>
            <a:endParaRPr lang="en-US" sz="1100" dirty="0"/>
          </a:p>
          <a:p>
            <a:pPr lvl="1"/>
            <a:r>
              <a:rPr lang="en-US" sz="1100" dirty="0"/>
              <a:t>Prefix: s223 for main schema URI = </a:t>
            </a:r>
            <a:r>
              <a:rPr lang="en-US" sz="1100" dirty="0">
                <a:hlinkClick r:id="rId3"/>
              </a:rPr>
              <a:t>http://ashrae223.org/1.0/schema</a:t>
            </a:r>
            <a:endParaRPr lang="en-US" sz="1100" dirty="0"/>
          </a:p>
          <a:p>
            <a:pPr marL="393192" lvl="1" indent="0">
              <a:buNone/>
            </a:pPr>
            <a:endParaRPr lang="en-US" sz="1100" dirty="0"/>
          </a:p>
          <a:p>
            <a:pPr lvl="1"/>
            <a:endParaRPr lang="en-US" sz="1100" dirty="0"/>
          </a:p>
          <a:p>
            <a:pPr marL="109728" indent="0">
              <a:buNone/>
            </a:pPr>
            <a:r>
              <a:rPr lang="en-US" sz="1050" dirty="0"/>
              <a:t>Some sample content:</a:t>
            </a:r>
          </a:p>
          <a:p>
            <a:pPr marL="109728" indent="0">
              <a:buNone/>
            </a:pPr>
            <a:endParaRPr lang="en-US" sz="1050" dirty="0"/>
          </a:p>
          <a:p>
            <a:pPr marL="109728" indent="0">
              <a:buNone/>
            </a:pPr>
            <a:r>
              <a:rPr lang="en-US" sz="1050" dirty="0"/>
              <a:t>@prefix s223c: &lt;http://ashrae223.org/1.0/connection#&gt; .</a:t>
            </a:r>
          </a:p>
          <a:p>
            <a:pPr marL="109728" indent="0">
              <a:buNone/>
            </a:pPr>
            <a:r>
              <a:rPr lang="en-US" sz="1050" dirty="0"/>
              <a:t>@prefix s223: &lt;http://ashrae223.org/1.0/schema#&gt; . </a:t>
            </a:r>
          </a:p>
          <a:p>
            <a:pPr marL="109728" indent="0">
              <a:buNone/>
            </a:pPr>
            <a:r>
              <a:rPr lang="en-US" sz="1050" dirty="0"/>
              <a:t>&lt;http://ashrae223.org/1.0/connection&gt; a </a:t>
            </a:r>
            <a:r>
              <a:rPr lang="en-US" sz="1050" dirty="0" err="1"/>
              <a:t>owl:Ontology</a:t>
            </a:r>
            <a:r>
              <a:rPr lang="en-US" sz="1050" dirty="0"/>
              <a:t> ;</a:t>
            </a:r>
          </a:p>
          <a:p>
            <a:pPr marL="109728" indent="0">
              <a:buNone/>
            </a:pPr>
            <a:r>
              <a:rPr lang="en-US" sz="1050" dirty="0" err="1"/>
              <a:t>owl:imports</a:t>
            </a:r>
            <a:r>
              <a:rPr lang="en-US" sz="1050" dirty="0"/>
              <a:t> …</a:t>
            </a:r>
          </a:p>
          <a:p>
            <a:pPr marL="109728" indent="0">
              <a:buNone/>
            </a:pPr>
            <a:r>
              <a:rPr lang="en-US" sz="1050" dirty="0"/>
              <a:t>…</a:t>
            </a:r>
          </a:p>
          <a:p>
            <a:pPr marL="109728" indent="0">
              <a:buNone/>
            </a:pPr>
            <a:endParaRPr lang="en-US" sz="1050" dirty="0"/>
          </a:p>
          <a:p>
            <a:pPr marL="109728" indent="0">
              <a:buNone/>
            </a:pPr>
            <a:r>
              <a:rPr lang="en-US" sz="1050" dirty="0"/>
              <a:t>s223:Connection a </a:t>
            </a:r>
            <a:r>
              <a:rPr lang="en-US" sz="1050" dirty="0" err="1"/>
              <a:t>owl:Class</a:t>
            </a:r>
            <a:r>
              <a:rPr lang="en-US" sz="1050" dirty="0"/>
              <a:t> ;</a:t>
            </a:r>
          </a:p>
          <a:p>
            <a:pPr marL="109728" indent="0">
              <a:buNone/>
            </a:pPr>
            <a:r>
              <a:rPr lang="en-US" sz="1050" dirty="0" err="1"/>
              <a:t>rdfs:label</a:t>
            </a:r>
            <a:r>
              <a:rPr lang="en-US" sz="1050" dirty="0"/>
              <a:t> "Connection"@</a:t>
            </a:r>
            <a:r>
              <a:rPr lang="en-US" sz="1050" dirty="0" err="1"/>
              <a:t>en</a:t>
            </a:r>
            <a:r>
              <a:rPr lang="en-US" sz="1050" dirty="0"/>
              <a:t> ;</a:t>
            </a:r>
          </a:p>
          <a:p>
            <a:pPr marL="109728" indent="0">
              <a:buNone/>
            </a:pPr>
            <a:r>
              <a:rPr lang="en-US" sz="1050" dirty="0" err="1"/>
              <a:t>rdfs:comment</a:t>
            </a:r>
            <a:r>
              <a:rPr lang="en-US" sz="1050" dirty="0"/>
              <a:t> """The class of connections between systems. This class qualifies property s223:connectedTo. A connection describes potential interactions between systems. Any two connected systems are connected through a connection. A connection can connect more than two systems at the same time."""@</a:t>
            </a:r>
            <a:r>
              <a:rPr lang="en-US" sz="1050" dirty="0" err="1"/>
              <a:t>en</a:t>
            </a:r>
            <a:r>
              <a:rPr lang="en-US" sz="1050" dirty="0"/>
              <a:t> ;</a:t>
            </a:r>
          </a:p>
          <a:p>
            <a:pPr marL="109728" indent="0">
              <a:buNone/>
            </a:pPr>
            <a:r>
              <a:rPr lang="en-US" sz="1050" dirty="0" err="1"/>
              <a:t>rdfs:subClassOf</a:t>
            </a:r>
            <a:r>
              <a:rPr lang="en-US" sz="1050" dirty="0"/>
              <a:t> [ </a:t>
            </a:r>
            <a:r>
              <a:rPr lang="en-US" sz="1050" dirty="0" err="1"/>
              <a:t>owl:onProperty</a:t>
            </a:r>
            <a:r>
              <a:rPr lang="en-US" sz="1050" dirty="0"/>
              <a:t> s223:connectsSystem ; </a:t>
            </a:r>
            <a:r>
              <a:rPr lang="en-US" sz="1050" dirty="0" err="1"/>
              <a:t>owl:someValuesFrom</a:t>
            </a:r>
            <a:r>
              <a:rPr lang="en-US" sz="1050" dirty="0"/>
              <a:t> s223:System ] ;</a:t>
            </a:r>
          </a:p>
          <a:p>
            <a:pPr marL="109728" indent="0">
              <a:buNone/>
            </a:pPr>
            <a:r>
              <a:rPr lang="en-US" sz="1050" dirty="0" err="1"/>
              <a:t>rdfs:subClassOf</a:t>
            </a:r>
            <a:r>
              <a:rPr lang="en-US" sz="1050" dirty="0"/>
              <a:t> [ </a:t>
            </a:r>
            <a:r>
              <a:rPr lang="en-US" sz="1050" dirty="0" err="1"/>
              <a:t>owl:onProperty</a:t>
            </a:r>
            <a:r>
              <a:rPr lang="en-US" sz="1050" dirty="0"/>
              <a:t> s223:connectsSystemAt ; </a:t>
            </a:r>
            <a:r>
              <a:rPr lang="en-US" sz="1050" dirty="0" err="1"/>
              <a:t>owl:someValuesFrom</a:t>
            </a:r>
            <a:r>
              <a:rPr lang="en-US" sz="1050" dirty="0"/>
              <a:t> s223:ConnectionPoint ] ;</a:t>
            </a:r>
          </a:p>
          <a:p>
            <a:pPr marL="109728" indent="0">
              <a:buNone/>
            </a:pPr>
            <a:r>
              <a:rPr lang="en-US" sz="1050" dirty="0" err="1"/>
              <a:t>owl:disjointWith</a:t>
            </a:r>
            <a:r>
              <a:rPr lang="en-US" sz="1050" dirty="0"/>
              <a:t> s223:System .</a:t>
            </a:r>
          </a:p>
          <a:p>
            <a:pPr marL="393192" lvl="1" indent="0">
              <a:buNone/>
            </a:pPr>
            <a:endParaRPr lang="en-US" sz="1100" dirty="0"/>
          </a:p>
          <a:p>
            <a:pPr lvl="1"/>
            <a:endParaRPr lang="en-US" sz="1100" dirty="0"/>
          </a:p>
          <a:p>
            <a:pPr lvl="1"/>
            <a:endParaRPr lang="en-US" sz="1100" dirty="0"/>
          </a:p>
        </p:txBody>
      </p:sp>
      <p:sp>
        <p:nvSpPr>
          <p:cNvPr id="4" name="Oval Callout 3">
            <a:extLst>
              <a:ext uri="{FF2B5EF4-FFF2-40B4-BE49-F238E27FC236}">
                <a16:creationId xmlns:a16="http://schemas.microsoft.com/office/drawing/2014/main" id="{FC9386FF-ACD4-B947-B091-A85F9D51BD12}"/>
              </a:ext>
            </a:extLst>
          </p:cNvPr>
          <p:cNvSpPr/>
          <p:nvPr/>
        </p:nvSpPr>
        <p:spPr>
          <a:xfrm>
            <a:off x="5486400" y="3847263"/>
            <a:ext cx="2514600" cy="267537"/>
          </a:xfrm>
          <a:prstGeom prst="wedgeEllipseCallout">
            <a:avLst>
              <a:gd name="adj1" fmla="val -91363"/>
              <a:gd name="adj2" fmla="val -85844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Base URI, 1 per file</a:t>
            </a:r>
          </a:p>
        </p:txBody>
      </p:sp>
    </p:spTree>
    <p:extLst>
      <p:ext uri="{BB962C8B-B14F-4D97-AF65-F5344CB8AC3E}">
        <p14:creationId xmlns:p14="http://schemas.microsoft.com/office/powerpoint/2010/main" val="39289108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12818</TotalTime>
  <Words>498</Words>
  <Application>Microsoft Macintosh PowerPoint</Application>
  <PresentationFormat>On-screen Show (4:3)</PresentationFormat>
  <Paragraphs>59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</vt:lpstr>
      <vt:lpstr>Lucida Sans Unicode</vt:lpstr>
      <vt:lpstr>Verdana</vt:lpstr>
      <vt:lpstr>Wingdings 2</vt:lpstr>
      <vt:lpstr>Wingdings 3</vt:lpstr>
      <vt:lpstr>Concourse</vt:lpstr>
      <vt:lpstr>Proposed Model Conventions</vt:lpstr>
      <vt:lpstr>File infrastructure </vt:lpstr>
      <vt:lpstr>File naming convention </vt:lpstr>
      <vt:lpstr>Prefixes &amp; URIs</vt:lpstr>
      <vt:lpstr>Pulling it all together File, BaseURI, Prefix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Allen Jones</dc:creator>
  <cp:lastModifiedBy>Steve Ray</cp:lastModifiedBy>
  <cp:revision>197</cp:revision>
  <cp:lastPrinted>2015-06-26T14:24:58Z</cp:lastPrinted>
  <dcterms:created xsi:type="dcterms:W3CDTF">2015-01-12T21:15:05Z</dcterms:created>
  <dcterms:modified xsi:type="dcterms:W3CDTF">2020-09-25T17:48:28Z</dcterms:modified>
</cp:coreProperties>
</file>